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2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8B7E49B-DB87-4253-9D63-04B62F23EE6E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3971BB-67E7-4D2C-9373-0D947B91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4C10E77-6B6D-46CF-828A-4499AB849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30052008-6766-4FDB-8E43-0311AC852BB2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0036DAF-489F-4AE2-941C-8904C9EA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FA180DE-A23C-468F-8447-AABCFAD51EE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054B61-DCC7-49DF-A85E-31FB5E78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48CB3FC-B236-4361-94DB-C57DE144E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3D9C8AA5-A5FB-4028-9190-6DC102C6D44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1CCD88-044F-4C04-B146-91F574CF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4F0B1D2-2676-491D-9959-BAE819671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305D5FF6-6973-43BF-A32D-6B82FDA502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A225F66-3EDF-4AF4-9240-4FA7950511E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3E7516D-CFE4-4B30-8BBB-321F6B24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72F871E-6A59-4418-8355-FC1BB35CA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s.scribd.com/document/481974672/CIERRE-DE-PROYECTOS-Y-EVALUACION" TargetMode="External"/><Relationship Id="rId5" Type="http://schemas.openxmlformats.org/officeDocument/2006/relationships/hyperlink" Target="https://aprendeindustrial.com/evaluacion-y-cierre-de-proyectos/" TargetMode="External"/><Relationship Id="rId4" Type="http://schemas.openxmlformats.org/officeDocument/2006/relationships/hyperlink" Target="https://fastercapital.com/es/tema/cierre-y-evaluaci%C3%B3n-del-proyect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B0DE42A-5008-43A3-ABF4-A8068A960490}"/>
              </a:ext>
            </a:extLst>
          </p:cNvPr>
          <p:cNvGrpSpPr/>
          <p:nvPr/>
        </p:nvGrpSpPr>
        <p:grpSpPr>
          <a:xfrm>
            <a:off x="1579600" y="803581"/>
            <a:ext cx="3105785" cy="970280"/>
            <a:chOff x="0" y="0"/>
            <a:chExt cx="3106079" cy="970560"/>
          </a:xfrm>
        </p:grpSpPr>
        <p:pic>
          <p:nvPicPr>
            <p:cNvPr id="6" name="4 2">
              <a:extLst>
                <a:ext uri="{FF2B5EF4-FFF2-40B4-BE49-F238E27FC236}">
                  <a16:creationId xmlns:a16="http://schemas.microsoft.com/office/drawing/2014/main" id="{3C3E9DFF-8F9F-49B7-B0EC-EE44976E6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926999" y="0"/>
              <a:ext cx="2179080" cy="62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3 2">
              <a:extLst>
                <a:ext uri="{FF2B5EF4-FFF2-40B4-BE49-F238E27FC236}">
                  <a16:creationId xmlns:a16="http://schemas.microsoft.com/office/drawing/2014/main" id="{A71BF93D-512F-4593-8820-37355814E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 flipH="1">
              <a:off x="0" y="925200"/>
              <a:ext cx="170280" cy="453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9C84D8D-2046-400C-A9C6-4C5CE5D29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561" y="679662"/>
            <a:ext cx="1366838" cy="87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781D232-3918-4D7A-97B5-ABED0BBF4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823" y="568443"/>
            <a:ext cx="1765300" cy="85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FF102F88-6476-4D53-896B-C08F67294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354" y="2084910"/>
            <a:ext cx="687162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INSTITUTO TECNOLÓGICO DE FRONTERA COMALAPA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Ingeniería sistemas computacionales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Semestre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 7°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Actividad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Banco de Ejercicio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Alumno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Daniel osvaldo silias cárdenas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Docente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Francisco Javier Mingo Velazquez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No. Control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231260058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04/10/2026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321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54EEC771-64E3-43AB-8FD1-640A8BE5DDB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914EA6-AA45-42B2-97B9-4B9672F5245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3CF9ED-7BF9-4112-921E-8A0B212AAC8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6D8E95-A3F0-40FA-95AF-F8E0BEB8AB04}"/>
              </a:ext>
            </a:extLst>
          </p:cNvPr>
          <p:cNvSpPr>
            <a:spLocks noGrp="1"/>
          </p:cNvSpPr>
          <p:nvPr/>
        </p:nvSpPr>
        <p:spPr>
          <a:xfrm>
            <a:off x="1352550" y="174307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Concluir un proyecto requiere revisar sus entregables y explicar qué objetivos se alcanzaron con la evidencia disponible.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40EB1FB-44D8-4734-AEE0-1D581610F423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1E89FAF-D0C4-4A6A-A857-2A771A005670}"/>
              </a:ext>
            </a:extLst>
          </p:cNvPr>
          <p:cNvSpPr>
            <a:spLocks noGrp="1"/>
          </p:cNvSpPr>
          <p:nvPr/>
        </p:nvSpPr>
        <p:spPr>
          <a:xfrm>
            <a:off x="1352550" y="272415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La Unidad 6 aborda esta revisión mediante indicadores de desempeño, registros de aprendizaje y documentos de entrega.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2C3BD7-7013-4FBA-9AEE-1B660DD9E774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C7429F-71F2-400B-BAA9-A59310090AAA}"/>
              </a:ext>
            </a:extLst>
          </p:cNvPr>
          <p:cNvSpPr>
            <a:spLocks noGrp="1"/>
          </p:cNvSpPr>
          <p:nvPr/>
        </p:nvSpPr>
        <p:spPr>
          <a:xfrm>
            <a:off x="1352550" y="370522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El desarrollo utiliza los casos Corona, Multired y Banco Bansiso para resolver situaciones de evaluación y proponer condiciones de cierre.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5A6B5D-1E3A-4AD6-9765-4EAE5539310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0B6C7F-4267-4815-9D6F-47084AC72934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Los datos de referencia y el ejemplo numérico ilustran el análisis. La decisión final de cierre depende de las pruebas y de la validación del responsable.</a:t>
            </a:r>
          </a:p>
        </p:txBody>
      </p:sp>
    </p:spTree>
    <p:extLst>
      <p:ext uri="{BB962C8B-B14F-4D97-AF65-F5344CB8AC3E}">
        <p14:creationId xmlns:p14="http://schemas.microsoft.com/office/powerpoint/2010/main" val="136980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245D1CCC-D43F-49DF-9B80-52C585CA043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BB4745-4648-4B0D-B9D7-294E2CE4F10E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17A596-A3A2-4F19-B27A-780D57C2897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C8A66A-3D35-43B8-BEF5-4B7E688A7382}"/>
              </a:ext>
            </a:extLst>
          </p:cNvPr>
          <p:cNvSpPr>
            <a:spLocks noGrp="1"/>
          </p:cNvSpPr>
          <p:nvPr/>
        </p:nvSpPr>
        <p:spPr>
          <a:xfrm>
            <a:off x="1352550" y="174307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La evaluación permite detectar diferencias entre lo acordado y lo entregado antes de formalizar la conclusión del trabajo.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AFF51A-EF11-4BEE-A9C0-C05896701348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B52FD2-2E12-459F-A3BE-AC5119640F6F}"/>
              </a:ext>
            </a:extLst>
          </p:cNvPr>
          <p:cNvSpPr>
            <a:spLocks noGrp="1"/>
          </p:cNvSpPr>
          <p:nvPr/>
        </p:nvSpPr>
        <p:spPr>
          <a:xfrm>
            <a:off x="1352550" y="272415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Comparar procesos con necesidades distintas ayuda a seleccionar evidencias adecuadas para cada proyecto.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E5D2E1-7286-4A76-92EA-980DB09B4EEE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5B5AC3B-931D-4BB2-95CB-2918956B32EA}"/>
              </a:ext>
            </a:extLst>
          </p:cNvPr>
          <p:cNvSpPr>
            <a:spLocks noGrp="1"/>
          </p:cNvSpPr>
          <p:nvPr/>
        </p:nvSpPr>
        <p:spPr>
          <a:xfrm>
            <a:off x="1352550" y="370522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Los ejercicios relacionan los cambios del cronograma con sus consecuencias y convierten los problemas del desarrollo en acciones de mejora.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6C5F1A8-F780-4ACB-BE74-04C5309ABBF8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B4E1F5A-A306-436B-86F5-297A84317310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Organizar el expediente y definir la aceptación facilita una entrega que el responsable pueda revisar y utilizar.</a:t>
            </a:r>
          </a:p>
        </p:txBody>
      </p:sp>
    </p:spTree>
    <p:extLst>
      <p:ext uri="{BB962C8B-B14F-4D97-AF65-F5344CB8AC3E}">
        <p14:creationId xmlns:p14="http://schemas.microsoft.com/office/powerpoint/2010/main" val="70365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38A5CE6-ED8F-4302-8316-1E59106FD6C6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5E431C-9339-42E7-A937-745AFE95741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Desarrollo · Condiciones de cumplimiento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45CEC03-7557-40B1-AA32-E502F655BB29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Caso por resolver: definir las comprobaciones necesarias para autorizar el cierre.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101087-DD50-4BE8-B9A9-BA50E93E049F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9E55D6C-28B8-4D83-9C1B-2A9FFE9AEF71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Entregables: contrastar las funciones disponibles con el alcance y los requisitos acordados.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04DDF6-7CDD-45E5-A2BA-1D0C8500904F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38D528-0742-49A8-A90A-8B93F05306B0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Calendario: identificar desviaciones respecto de las fechas de compromiso y explicar los cambios.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8CA7797-7ECD-4E84-B6BF-124D1107E96B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3F91F7F-0BAF-4C40-BF5F-48DBECAC3415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Pruebas: comprobar el funcionamiento y la atención de incidencias según su gravedad.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03DA79-4EAC-49AC-8F14-4EA29FFA81E5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2058622-A391-4DC1-BA50-2ADA1779CE37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Entrega: verificar los documentos requeridos y el registro de conformidad del responsable.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987F336-E19A-4197-B137-0AE6BDD72C6C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Criterio de resolución: el éxito requiere evidencia de cumplimiento, además de actividades terminadas.</a:t>
            </a:r>
          </a:p>
        </p:txBody>
      </p:sp>
    </p:spTree>
    <p:extLst>
      <p:ext uri="{BB962C8B-B14F-4D97-AF65-F5344CB8AC3E}">
        <p14:creationId xmlns:p14="http://schemas.microsoft.com/office/powerpoint/2010/main" val="93879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7277EE63-651F-44A5-A86C-F84E7E74A2F3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A0A7D3A-AC66-4F3B-80D7-CAF51A078B0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Relación con las actividades anteriores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BE33E3-6462-498D-AB1A-F491F1D0E92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284E3B-8AF6-44FC-8C2B-9CDD20EAE3B5}"/>
              </a:ext>
            </a:extLst>
          </p:cNvPr>
          <p:cNvSpPr>
            <a:spLocks noGrp="1"/>
          </p:cNvSpPr>
          <p:nvPr/>
        </p:nvSpPr>
        <p:spPr>
          <a:xfrm>
            <a:off x="1352550" y="174307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Planificación: el cronograma de ProjectLibre permite revisar duraciones, dependencias y fechas de entrega.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2FC921-6A84-4B6B-99DD-66B4A1D1CC4D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461595F-EBFF-4614-9605-1BB151567425}"/>
              </a:ext>
            </a:extLst>
          </p:cNvPr>
          <p:cNvSpPr>
            <a:spLocks noGrp="1"/>
          </p:cNvSpPr>
          <p:nvPr/>
        </p:nvSpPr>
        <p:spPr>
          <a:xfrm>
            <a:off x="1352550" y="272415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Gestión de tareas: las historias de Jira vinculan las funciones solicitadas con criterios de verificación.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F7BFCA-AD96-407F-8565-B659623367F1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1CB7E0-E6E2-4B8B-A20E-3B9B1EE30AF5}"/>
              </a:ext>
            </a:extLst>
          </p:cNvPr>
          <p:cNvSpPr>
            <a:spLocks noGrp="1"/>
          </p:cNvSpPr>
          <p:nvPr/>
        </p:nvSpPr>
        <p:spPr>
          <a:xfrm>
            <a:off x="1352550" y="370522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Seguimiento visual: Trello organiza el trabajo por estados y permite identificar pendientes de revisión.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E31BCD4-D752-4E2D-8C1C-DF7B7D23C3B2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233C38-4F18-4DDE-B94F-DACD6B704A6B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Modelado y pruebas: los diagramas BPMN y las simulaciones aportan evidencia del comportamiento del proceso.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0CCBE07-3A1B-4EF5-A50C-BAF9013709F0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Cada herramienta aporta información distinta. La evaluación final reúne estas evidencias para revisar el cumplimiento.</a:t>
            </a:r>
          </a:p>
        </p:txBody>
      </p:sp>
    </p:spTree>
    <p:extLst>
      <p:ext uri="{BB962C8B-B14F-4D97-AF65-F5344CB8AC3E}">
        <p14:creationId xmlns:p14="http://schemas.microsoft.com/office/powerpoint/2010/main" val="88821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96408C7-915A-4B03-8CA5-B9BF65F526FD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1E83AA-1398-4A92-BF1C-F021972BD2B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Continuidad del trabajo de Multired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85800" y="1600200"/>
          <a:ext cx="10668000" cy="41910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Etapa de trabajo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Información útil para la evaluación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TS01–TS02 · Definición y requisitos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Objetivos, alcance y funciones que deben verificarse.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TS03–TS04 · Flujo y herramientas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Modelo del proceso y comprobación de su compatibilidad.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TS05–TS06 · Escenarios y pruebas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Casos preparados, resultados y comportamiento ante fallas.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TS07 · Análisis de resultados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Tiempos de ciclo y comparación de los escenarios ejecutados.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43EAC79C-C99A-4BD1-8BE8-75B099DD51C6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Esta relación organiza las etapas trabajadas anteriormente. El cumplimiento requiere sus evidencias correspondientes.</a:t>
            </a:r>
          </a:p>
        </p:txBody>
      </p:sp>
    </p:spTree>
    <p:extLst>
      <p:ext uri="{BB962C8B-B14F-4D97-AF65-F5344CB8AC3E}">
        <p14:creationId xmlns:p14="http://schemas.microsoft.com/office/powerpoint/2010/main" val="71494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110FD20-F3B8-40BD-9BF7-53747B49740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70E23F-386C-4271-9E38-C75676CAF72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Consistencia de las evidencias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312693-D309-459F-B933-DF02DD5C16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Caso adicional: un tablero muestra una tarea terminada, pero el reporte todavía registra pruebas pendientes.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157E654-F85A-4FAD-90D9-AA263942A02F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36A1AC-CBEA-4F77-BDBD-CA216B727EDB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Identificar qué requisito cubre la tarea y cuál es el criterio para considerarla completa.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3D9F0F-BDF2-4C4E-9911-627015B827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078A9A-BB33-4614-912C-1ABB8A0F940E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Revisar la fecha de las capturas, los archivos de simulación y los resultados de las pruebas.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A8C65A-2EA4-4BEA-A69E-0F3198FAA653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6A79F3-C901-41F4-89C1-A5181E42086E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Corregir las diferencias entre el cronograma, las tarjetas y el informe final.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1CEEBC3-4413-4A58-B093-D3B4B67A2D1A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E01875-EBD0-435B-A527-3E0F235C8E0A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Registrar pendientes reales y conservar una versión identificable de los archivos entregados.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14C7F56-26A7-4D90-B0B2-B0FAC4509C3C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Criterio de resolución: los estados del tablero y el informe deben describir la misma situación comprobada.</a:t>
            </a:r>
          </a:p>
        </p:txBody>
      </p:sp>
    </p:spTree>
    <p:extLst>
      <p:ext uri="{BB962C8B-B14F-4D97-AF65-F5344CB8AC3E}">
        <p14:creationId xmlns:p14="http://schemas.microsoft.com/office/powerpoint/2010/main" val="151797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91BEEE1-C486-4C65-B4F3-2191C806CE97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12105C-C9EF-427F-9604-164C68446A5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Revisión del proceso comercial de Corona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B7C643-E008-42C8-B596-4729AE3F01F3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Caso por resolver: comprobar la cobertura y el funcionamiento de las etapas de Corona.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91AE81-6B0A-4AB9-8F6F-302391CAFCD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4A4CEE-70B2-46C6-86D1-C3805F7B634E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Proceso cubierto: seguir el recorrido desde la producción hasta la venta, incluyendo existencias, almacén y distribución.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FCF9FB-C77E-4333-931D-17C637E9FC54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3FFA172-D196-4B0F-B1A4-9AD419748937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Trabajo organizado: comprobar las siete actividades y sus vínculos en el cronograma, junto con los registros de Jira.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DCEB5B-E7AE-43A1-ABF3-D82F4A20B7BC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824D5A0-87BF-44ED-BA9A-65F97C651855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Ejecución comprobada: revisar la conexión entre las etapas y conservar los resultados de las pruebas.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067C48-568F-42B2-9632-4672E643C2DB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5F3B1B-5614-49F8-AE9F-6F7EFAEC333B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Cambio rastreable: relacionar CR-2026-001 con la nueva duración y las fechas afectadas.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7800DF-F3D3-44FF-ACEE-E267F3650FCD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Criterio de resolución: la planificación sirve de base. El cierre requiere pruebas y documentación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71507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89102EA-1366-430C-ACF2-2FB288A11D1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7E7069-05B3-4368-9D09-905FFCA51E8B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Análisis de la ampliación del cronograma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DA2BAD-67A4-4D77-99BF-F863C58EC33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Datos del caso: la simulación de producción aumenta de 6 a 8 días por ajustes del modelo.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685800" y="2476500"/>
          <a:ext cx="10668000" cy="307848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Análisis del cambio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Variación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8 − 6 = 2 días adicionales, equivalentes al 33,3 % de la duración inicial.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Las tareas sucesoras pueden desplazarse. El efecto final depende de las dependencias y la holgura.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Control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Actualizar el cronograma en ProjectLibre y registrar el motivo, el impacto y la decisión.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El registro indica aprobación pendiente. El cambio no debe tratarse como autorizado.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77FD388-8EC8-4EB4-8079-643CDCC6DAD5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Criterio de resolución: revisar las dependencias y obtener la decisión correspondiente antes de consolidar el cambio.</a:t>
            </a:r>
          </a:p>
        </p:txBody>
      </p:sp>
    </p:spTree>
    <p:extLst>
      <p:ext uri="{BB962C8B-B14F-4D97-AF65-F5344CB8AC3E}">
        <p14:creationId xmlns:p14="http://schemas.microsoft.com/office/powerpoint/2010/main" val="138660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524CE55-756E-4DB5-BBDB-89C60F582BF8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918F0A0-C78E-4A9A-84DB-C772AD427FF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Validación del modelo interbancario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659ED9-A7FA-498E-A4C6-D898951471F5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Datos del caso: seguimiento del 18/09/2026 y 45 % de avance en la actividad de ajuste del BPMN.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4AB155-EB32-4F2D-BC8F-D0BAF607B7E3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3BCEF9-0694-4EBC-9AD9-0FD24AFCF250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El seguimiento identifica problemas de ubicación y enlace entre elementos del modelo BPMN.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12E70E-84A7-402C-AF69-4B9C3A2082D2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E7388E-FF5F-497D-A0E3-2D58FEF789E2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La revisión debe comprobar el traslado del modelo entre Draw.io, Camunda, Bizagi y Bonita.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8699AE-53FD-4519-8197-0171A48EB070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D49281-5F51-4A33-907C-747874374F26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El cierre queda condicionado a terminar la corrección, probar el proceso y reunir sus resultados.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4196F12-F413-4C68-9852-C29031193C47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0D7ED89-C0A4-4E37-8331-3D3B9ED387B0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La propuesta del 05/10/2026 necesita una decisión y una actualización del cronograma.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77A55A9-04BC-4D76-8DD6-277669C74D4E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Criterio de resolución: el 45 % corresponde a la actividad descrita. No demuestra el avance global ni el cierre del proyecto.</a:t>
            </a:r>
          </a:p>
        </p:txBody>
      </p:sp>
    </p:spTree>
    <p:extLst>
      <p:ext uri="{BB962C8B-B14F-4D97-AF65-F5344CB8AC3E}">
        <p14:creationId xmlns:p14="http://schemas.microsoft.com/office/powerpoint/2010/main" val="82137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DC59F18-0B3C-48F5-B390-6B368B259DB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BBB14CA-229B-412E-AE54-1E9B144BB8D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Pruebas del servicio de atención bancaria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5B30161-B6C8-4957-88DD-7606B3E58101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Caso por resolver: establecer qué pruebas respaldan los resultados de la atención bancaria.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C6E89D9-4094-46AC-BED4-83F9E4CD2E8E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19787F-7228-4A2D-974F-FABDA416CFC1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Flujo de clientes: revisar cómo ingresan los usuarios y cómo pasan de la fila a la ventanilla.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37B00DC-77ED-4683-81E2-A0917A6C0812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B95DA2-5CFD-457A-B740-05F5D0B17C71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Escenarios: ejecutar configuraciones distintas y registrar el comportamiento de cada una.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8539F5-CB9E-4E88-A107-3A17DC73C0CC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4AC494-3260-4D7D-A3ED-A17DA4FB1ADB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Comparación: explicar las diferencias encontradas con base en los datos de las simulaciones.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AD0F3E3-FF70-49B5-BD90-EEDA2ACF7226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1DB2392-D7AB-41C3-8AD9-6B77147BBA61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Expediente: reunir el modelo, las pruebas y el análisis para su revisión final.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557D787-36CE-4F04-A0C7-B98D02AA7F8B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Criterio de resolución: la planificación organiza el trabajo. El cierre exige resultados verificables de los escenarios.</a:t>
            </a:r>
          </a:p>
        </p:txBody>
      </p:sp>
    </p:spTree>
    <p:extLst>
      <p:ext uri="{BB962C8B-B14F-4D97-AF65-F5344CB8AC3E}">
        <p14:creationId xmlns:p14="http://schemas.microsoft.com/office/powerpoint/2010/main" val="748424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ED7B452-30AB-4B70-892C-739B9CC476A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823BC8-550B-4E71-BC8B-87DD6A74D3F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Medidas de desempeño del proyecto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85800" y="1600200"/>
          <a:ext cx="10668000" cy="419099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Dimensión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Indicador propuesto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Evidencia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Alcance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Entregables completos / acordados × 100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Lista de entregables revisada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Fecha real − fecha prevista, en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Cronograma y registro de cambios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Calidad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Errores abiertos por nivel de gravedad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Registro de pruebas e incidencias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Requisitos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Requisitos validados / definidos ×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Matriz de validación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Documentación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Documentos completos / requeridos × 100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Inventario del expediente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Conformidad registrada del 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Acta o registro de validación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4527D7C1-5AF5-41AC-9D5F-1FABD8E6323E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Criterio de resolución: cada indicador necesita una definición, una fecha de corte y una fuente comprobable.</a:t>
            </a:r>
          </a:p>
        </p:txBody>
      </p:sp>
    </p:spTree>
    <p:extLst>
      <p:ext uri="{BB962C8B-B14F-4D97-AF65-F5344CB8AC3E}">
        <p14:creationId xmlns:p14="http://schemas.microsoft.com/office/powerpoint/2010/main" val="943648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9D5E679-44E1-4A3C-93FF-AFA418924DDB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87984C-D613-42CA-9F95-096DAFABD82F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Aplicación de las medidas de desempeño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2BF435-5291-41BC-8AAB-470E9ECC8FB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Ejemplo académico ficticio: 8 de 10 requisitos validados, 4 de 5 documentos completos y 3 días de retraso.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685800" y="2476500"/>
          <a:ext cx="10668000" cy="3048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Indicador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Cálculo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Lectura del resultado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Requisitos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8 / 10 × 100 = 80 %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Quedan dos requisitos por validar.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Documentación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4 / 5 × 100 = 80 %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Falta un documento del expediente.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Desviación temporal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Fecha real − prevista = +3 días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 entrega ocurre tres días después de lo previsto.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A96CDCE-2480-4436-BC3B-F729E43E6569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Criterio de resolución: estos datos muestran pendientes. No permiten declarar el éxito total ni representan resultados reales de los tres proyectos.</a:t>
            </a:r>
          </a:p>
        </p:txBody>
      </p:sp>
    </p:spTree>
    <p:extLst>
      <p:ext uri="{BB962C8B-B14F-4D97-AF65-F5344CB8AC3E}">
        <p14:creationId xmlns:p14="http://schemas.microsoft.com/office/powerpoint/2010/main" val="380880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B36671B-5A1B-4043-A660-5314503D46F3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B70ECB-9CFF-4170-B8BC-581067C1BC4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Registro de un aprendizaje del cronograma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E1A4AB6-E593-4D05-B4C8-0855CC2FC2C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Situación: una actividad amplía su duración y afecta a las tareas posteriores.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685800" y="2476500"/>
          <a:ext cx="10668000" cy="30480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Elemento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Registro propuesto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Problema y causa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 modificación afecta una actividad con sucesoras vinculadas.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Las fechas posteriores se desplazan y requieren revisar el plan.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Aprendizaje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Analizar dependencias y holgura antes de modificar una duración.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Acción futura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Registrar el cambio, calcular su efecto, comunicarlo y actualizar el cronograma.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AB96379-BE35-4428-A388-6A6DCD7C41D7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Relación con el caso: CR-2026-001 de Corona permite practicar este análisis.</a:t>
            </a:r>
          </a:p>
        </p:txBody>
      </p:sp>
    </p:spTree>
    <p:extLst>
      <p:ext uri="{BB962C8B-B14F-4D97-AF65-F5344CB8AC3E}">
        <p14:creationId xmlns:p14="http://schemas.microsoft.com/office/powerpoint/2010/main" val="1974352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C4526D-97FA-42A1-AF65-40AC993F1D6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5FD2C2-F769-4249-B098-11A59DD3FF0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Procesos y objetivos de los casos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85800" y="1600200"/>
          <a:ext cx="10668000" cy="4095752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Proceso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Flujo desde la fabricación hasta la venta, con control de existencias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Operaciones de retiro y consulta entre cajero y banco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Ingreso de usuarios y servicio mediante filas y ventanillas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Representar el funcionamiento de la operación y la comercialización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Comprobar el intercambio del cajero con la entidad emisora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Comparar la espera y el servicio bajo distintas configuraciones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Planeación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Siete actividades relacionadas en el plan de trabajo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 temporal acompañado de registros de seguimiento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Siete actividades relacionadas en el plan de trabajo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19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F41B2CD-30A0-419E-B0FA-132121779AFE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2DA65F-51BF-475B-8692-A2AEE907624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Organización y seguimiento de las actividades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85800" y="1600200"/>
          <a:ext cx="10668000" cy="4095752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Planificación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ProjectLibre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ProjectLibre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ProjectLibre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Seguimiento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Tareas y recursos vinculados al calendario y a las historias de 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Registro del 18/09/2026, tareas en Jira y revisión del BPMN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Tareas y recursos vinculados al calendario y a las historias de 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Situación relevante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Dos días adicionales en una actividad de producción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Corrección del modelo con 45 % de avance reportado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Pruebas y comparación de escenarios aún por confirmar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9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D313D44-EBDC-4DF6-B3A1-DD33F02238D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CD5E2F-93FB-4EE1-9686-89085F6DE147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Trazabilidad de los cambios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85800" y="1600200"/>
          <a:ext cx="10668000" cy="409575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5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Control de cambios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 solicitud CR-2026-001 registra ajustes y una mayor duración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Se plantea el 05/10/2026 tras la corrección y validación del modelo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El material no identifica una solicitud equivalente de modificación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Evidencia para revisar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 temporal, diagrama de Gantt, requisitos y solicitud de cambio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Plan, registro de avance, modelo y evidencias de las herramientas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Planificación, requisitos y registros de los escenarios probados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826F4872-4743-4B79-9EFB-C65B86C1D833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Los registros del material original describen los casos de referencia. Deben contrastarse con evidencias actualizadas.</a:t>
            </a:r>
          </a:p>
        </p:txBody>
      </p:sp>
    </p:spTree>
    <p:extLst>
      <p:ext uri="{BB962C8B-B14F-4D97-AF65-F5344CB8AC3E}">
        <p14:creationId xmlns:p14="http://schemas.microsoft.com/office/powerpoint/2010/main" val="868359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AF6BA5F-2BC4-44E8-A757-DD5ABDAD689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9070A6-7877-47CD-AA4C-C210451C9693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Requisitos para concluir cada caso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85800" y="1600200"/>
          <a:ext cx="10668000" cy="4095752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Aprendizaje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 modificación del tiempo requiere revisar los vínculos entre tareas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 simulación necesita un modelo compatible y correctamente conectado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La conclusión debe considerar más de una configuración de atención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Pendientes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Reunir resultados validados y completar el expediente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Corregir el modelo y conservar resultados de ejecución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Obtener datos de las pruebas y explicar las diferencias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Condición de cierre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Comprobar los entregables y sus registros de validación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Resolver pendientes y verificar las operaciones interbancarias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Respaldar la atención simulada con pruebas y un informe final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471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56410C4-1C3E-4CE8-84A7-0D9A623F1E7D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0423BC-D3E6-409D-B940-50FCEC1F5133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Contenido de la entrega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4BA3E7-6B08-4911-9B90-9DC93D49A63D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Caso por resolver: organizar un paquete de entrega que permita revisar y utilizar el trabajo.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EA66DAF-58A1-4DA5-8752-06336EDC733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20EF4B-E0BA-4722-B7F1-9F8A8E08FFA4}"/>
              </a:ext>
            </a:extLst>
          </p:cNvPr>
          <p:cNvSpPr>
            <a:spLocks noGrp="1"/>
          </p:cNvSpPr>
          <p:nvPr/>
        </p:nvSpPr>
        <p:spPr>
          <a:xfrm>
            <a:off x="1352550" y="26670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Descripción de la entrega: identificar objetivos, productos y requisitos que cuentan con validación.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4A1BF9-6C94-4066-AE46-E61F7A3AE135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5F9D3D-913F-4C20-91FA-847772737F8A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Archivos utilizables: incluir los modelos y las simulaciones con la versión que recibe el responsable.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F97D2B0-5A32-45A4-9305-885A09F0C14F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2E8C01-03F9-4088-BEB8-86B32A49AB90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Sustento del análisis: conservar pruebas, incidencias y resultados de los escenarios comparados.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309DBB9-B1D1-4FB5-9A79-9B7F4FDAD325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56DA00-EDDF-4D07-B0DD-41E57473D07E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9858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Continuidad: incorporar instrucciones, decisiones de cambio, pendientes y recomendaciones.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AB570D-29D3-490A-81A0-8A1B47226469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Criterio de resolución: el expediente debe permitir revisar lo realizado y continuar el trabajo cuando sea necesario.</a:t>
            </a:r>
          </a:p>
        </p:txBody>
      </p:sp>
    </p:spTree>
    <p:extLst>
      <p:ext uri="{BB962C8B-B14F-4D97-AF65-F5344CB8AC3E}">
        <p14:creationId xmlns:p14="http://schemas.microsoft.com/office/powerpoint/2010/main" val="1326476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37E5446-F62F-4E26-9C60-F98C4D611376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81C622B-436F-49E8-9919-9CFC21C1CB4B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Validación de la entrega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EBA384-A528-4306-9101-CF2A71671BD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Caso por resolver: documentar la decisión del responsable sobre los productos entregados.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685800" y="2476500"/>
          <a:ext cx="10668000" cy="30480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Elemento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Contenido mínimo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Entrega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Nombre del proyecto, fecha, versión y entregables revisados.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Verificación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Criterios acordados, evidencia revisada y resultado de la validación.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Pendientes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Incidencias abiertas, restricciones y acuerdos para su atención.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Decisión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Aceptación, aceptación con condiciones o rechazo, con responsable y fecha.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DBC6DC02-232B-48A1-86B4-EF147E9495E4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Criterio de resolución: completar una tarea en el tablero no sustituye el registro de aceptación de la entrega.</a:t>
            </a:r>
          </a:p>
        </p:txBody>
      </p:sp>
    </p:spTree>
    <p:extLst>
      <p:ext uri="{BB962C8B-B14F-4D97-AF65-F5344CB8AC3E}">
        <p14:creationId xmlns:p14="http://schemas.microsoft.com/office/powerpoint/2010/main" val="1742483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AA6F70-7B72-4B85-B76F-4600D307B4E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033C2F-76C8-4FFA-A95D-E09FB281A77B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Ruta de verificación y cierre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85800" y="1600200"/>
          <a:ext cx="10668000" cy="430720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Paso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Actividad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Producto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Verificar el alcance y los requisitos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Lista de cumplimiento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Ejecutar y revisar las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Resultados y evidencias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Calcular indicadores y explicar desviaciones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Evaluación final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Registrar problemas y aprendizajes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Lecciones aprendidas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Integrar los documentos y archivos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Expediente final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Entregar y obtener la decisión del 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Registro de 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Formalizar el cierre y archivar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Acta y archivo del proyecto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751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FBEA3C1B-F077-4C52-8F89-751892BFE5A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C8794D-CF1C-4793-AFBC-FB3F15CCF705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Hallazgos del análisis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219177-4D0C-4BD8-9E8C-A618FBE0A96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F37979-D1E1-4D4B-99C7-ED3CA84FBF6D}"/>
              </a:ext>
            </a:extLst>
          </p:cNvPr>
          <p:cNvSpPr>
            <a:spLocks noGrp="1"/>
          </p:cNvSpPr>
          <p:nvPr/>
        </p:nvSpPr>
        <p:spPr>
          <a:xfrm>
            <a:off x="1352550" y="174307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Los casos necesitan evidencia de ejecución para que la evaluación supere la revisión del plan.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81DDF9-6FCD-4B2D-A139-A402FC219D85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735E0F-06DC-4B88-9001-60651C336905}"/>
              </a:ext>
            </a:extLst>
          </p:cNvPr>
          <p:cNvSpPr>
            <a:spLocks noGrp="1"/>
          </p:cNvSpPr>
          <p:nvPr/>
        </p:nvSpPr>
        <p:spPr>
          <a:xfrm>
            <a:off x="1352550" y="272415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Corona muestra la relación entre la duración de una tarea, sus sucesoras y la autorización de un cambio.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B398E63-1B8F-4D53-ACF7-979B88E9725C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4C993F-989D-4058-B74A-8927EF410B7B}"/>
              </a:ext>
            </a:extLst>
          </p:cNvPr>
          <p:cNvSpPr>
            <a:spLocks noGrp="1"/>
          </p:cNvSpPr>
          <p:nvPr/>
        </p:nvSpPr>
        <p:spPr>
          <a:xfrm>
            <a:off x="1352550" y="3705225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Multired muestra que el porcentaje de una actividad no basta para describir el estado de todo el proyecto.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21F03B-6A45-41CB-995D-5C7B22C57D12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048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F5D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3039FC-7318-4D0E-948E-E7F6EF3A3415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9858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D33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D3340"/>
                </a:solidFill>
                <a:latin typeface="Aptos"/>
                <a:ea typeface="Aptos"/>
                <a:cs typeface="Aptos"/>
              </a:rPr>
              <a:t>En Banco Bansiso, la comparación de escenarios fundamenta los resultados. La documentación y la aceptación permiten completar la entrega.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DEA281-3FDA-439C-97D3-2FF74D5D8D4E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La resolución identifica qué revisar. La validación final depende de la evidencia disponible de cada proyecto.</a:t>
            </a:r>
          </a:p>
        </p:txBody>
      </p:sp>
    </p:spTree>
    <p:extLst>
      <p:ext uri="{BB962C8B-B14F-4D97-AF65-F5344CB8AC3E}">
        <p14:creationId xmlns:p14="http://schemas.microsoft.com/office/powerpoint/2010/main" val="1172751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CCE6323-2BC3-45EC-95DC-49997E6F8B8A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24B17B-F178-47B6-9969-930D5CA1C80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4D214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D2140"/>
                </a:solidFill>
                <a:latin typeface="Aptos"/>
                <a:ea typeface="Aptos"/>
                <a:cs typeface="Aptos"/>
              </a:rPr>
              <a:t>Comparación final de los tres proyectos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85800" y="1600200"/>
          <a:ext cx="10668000" cy="409575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4D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Objetivo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Evaluar la operación desde producción hasta venta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Verificar retiros y consultas con el banco emisor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Comparar espera y atención bajo varios escenarios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Situación de 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Duración ajustada a ocho días. Aprobación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Modelo en corrección: 45 %. Fecha planteada: 05/10/2026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Plan organizado, con validación de resultados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Evidencias de revisión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Calendario, historias y solicitud de modificación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Registro de avance, modelo y capturas de ejecución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Calendario, requisitos y evidencia de escenarios</a:t>
                      </a:r>
                    </a:p>
                  </a:txBody>
                  <a:tcPr>
                    <a:solidFill>
                      <a:srgbClr val="F1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Pendientes para cerrar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Comprobar las etapas y completar el expediente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Corregir el proceso y respaldar la simulación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D3340"/>
                          </a:solidFill>
                          <a:latin typeface="Aptos"/>
                          <a:ea typeface="Aptos"/>
                          <a:cs typeface="Aptos"/>
                        </a:rPr>
                        <a:t>Explicar los resultados y preparar la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EF086DBD-3CA5-44F2-B7DA-D9E46C9B0898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5D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F5D44"/>
                </a:solidFill>
                <a:latin typeface="Aptos"/>
                <a:ea typeface="Aptos"/>
                <a:cs typeface="Aptos"/>
              </a:rPr>
              <a:t>En los tres casos, el cierre requiere pruebas, documentación y aceptación del responsable.</a:t>
            </a:r>
          </a:p>
        </p:txBody>
      </p:sp>
    </p:spTree>
    <p:extLst>
      <p:ext uri="{BB962C8B-B14F-4D97-AF65-F5344CB8AC3E}">
        <p14:creationId xmlns:p14="http://schemas.microsoft.com/office/powerpoint/2010/main" val="2094906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2A40048-EE86-44C7-A175-4EC5B498273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1D2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D2B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58E602-6AC1-4456-A63C-B3A91F23DEB7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71A107-DD82-4C5D-A87F-3932E9E2367B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conclusión de un proyecto se fundamenta en entregables comprobados y decisiones registradas.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4CCE82-8EB6-4C7D-ACB8-C0C1119BB164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Las medidas de desempeño permiten explicar los avances y los pendientes cuando sus datos tienen respaldo.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E7FE89-CE25-47BD-B540-1E3F32F28CCF}"/>
              </a:ext>
            </a:extLst>
          </p:cNvPr>
          <p:cNvSpPr>
            <a:spLocks noGrp="1"/>
          </p:cNvSpPr>
          <p:nvPr/>
        </p:nvSpPr>
        <p:spPr>
          <a:xfrm>
            <a:off x="685800" y="4356657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Conservar aprendizajes y documentos de entrega permite aprovechar la experiencia y continuar el trabajo.</a:t>
            </a:r>
            <a:endParaRPr lang="es-MX" sz="21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lvl="0"/>
            <a:r>
              <a:rPr lang="es-MX" dirty="0">
                <a:solidFill>
                  <a:schemeClr val="bg1"/>
                </a:solidFill>
              </a:rPr>
              <a:t>Fuentes de Informacion</a:t>
            </a:r>
          </a:p>
          <a:p>
            <a:pPr lvl="0"/>
            <a:r>
              <a:rPr lang="es-MX" u="sng" dirty="0">
                <a:hlinkClick r:id="rId4"/>
              </a:rPr>
              <a:t>https://fastercapital.com/es/tema/cierre-y-evaluaci%C3%B3n-del-proyecto.html</a:t>
            </a:r>
            <a:endParaRPr lang="es-MX" dirty="0"/>
          </a:p>
          <a:p>
            <a:pPr lvl="0"/>
            <a:r>
              <a:rPr lang="es-MX" u="sng" dirty="0">
                <a:hlinkClick r:id="rId5"/>
              </a:rPr>
              <a:t>https://aprendeindustrial.com/evaluacion-y-cierre-de-proyectos/</a:t>
            </a:r>
            <a:endParaRPr lang="es-MX" dirty="0"/>
          </a:p>
          <a:p>
            <a:pPr lvl="0"/>
            <a:r>
              <a:rPr lang="es-MX" u="sng" dirty="0">
                <a:hlinkClick r:id="rId6"/>
              </a:rPr>
              <a:t>https://es.scribd.com/document/481974672/CIERRE-DE-PROYECTOS-Y-EVALUACION</a:t>
            </a:r>
            <a:endParaRPr lang="es-MX" dirty="0"/>
          </a:p>
          <a:p>
            <a:pPr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21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950830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2292</Words>
  <Application>Microsoft Office PowerPoint</Application>
  <DocSecurity>0</DocSecurity>
  <PresentationFormat>Panorámica</PresentationFormat>
  <Paragraphs>349</Paragraphs>
  <Slides>24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Arial</vt:lpstr>
      <vt:lpstr>Noto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Silias</cp:lastModifiedBy>
  <cp:revision>4</cp:revision>
  <dcterms:created xsi:type="dcterms:W3CDTF">2026-10-02T21:24:24Z</dcterms:created>
  <dcterms:modified xsi:type="dcterms:W3CDTF">2026-10-02T22:39:49Z</dcterms:modified>
</cp:coreProperties>
</file>