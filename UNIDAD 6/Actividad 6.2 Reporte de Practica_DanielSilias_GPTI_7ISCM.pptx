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173" autoAdjust="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C1156E1E-2F98-4D2E-85AD-598FFB0C4B21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3985A90-0C60-4E2A-ADFC-CD5F7DB9B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C280828-C32C-4B01-9550-7191C22120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C583245C-6F3D-4BB0-BE69-AFDB8E1DEAB3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7666CBF4-96F5-4610-A9D1-75DCB142B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8495B5EB-78EF-434A-A694-99D422487BB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8B0912E-BCA3-4470-B062-0524216D3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97479483-0C7A-49BB-9C2E-04005019E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1A6C4DED-B2C7-4A57-AE54-27E247E1C17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6540502-DD00-4B87-BA29-432032DA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DACE879D-9EAB-4DDF-BE95-18015248E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01B8DFB6-5F0C-4C2C-82D2-F733E2DE565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55C15733-C5C0-470D-82DF-29DEF5C94D8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57B4F5D-D9DB-4887-BE16-B092AFEF8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27B35DFC-7C91-4428-B34E-902DF3171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github.com/danielsilias/Gestion_GPTI.git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es.scribd.com/document/481974672/CIERRE-DE-PROYECTOS-Y-EVALUACION" TargetMode="External"/><Relationship Id="rId5" Type="http://schemas.openxmlformats.org/officeDocument/2006/relationships/hyperlink" Target="https://aprendeindustrial.com/evaluacion-y-cierre-de-proyectos/" TargetMode="External"/><Relationship Id="rId4" Type="http://schemas.openxmlformats.org/officeDocument/2006/relationships/hyperlink" Target="https://fastercapital.com/es/tema/cierre-y-evaluaci%C3%B3n-del-proyecto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FB177C36-2F11-46B1-A4E5-1A5AA46D217E}"/>
              </a:ext>
            </a:extLst>
          </p:cNvPr>
          <p:cNvSpPr>
            <a:spLocks noGrp="1"/>
          </p:cNvSpPr>
          <p:nvPr/>
        </p:nvSpPr>
        <p:spPr>
          <a:xfrm>
            <a:off x="11049000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6A9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B0DE42A-5008-43A3-ABF4-A8068A960490}"/>
              </a:ext>
            </a:extLst>
          </p:cNvPr>
          <p:cNvGrpSpPr/>
          <p:nvPr/>
        </p:nvGrpSpPr>
        <p:grpSpPr>
          <a:xfrm>
            <a:off x="871677" y="612924"/>
            <a:ext cx="3105785" cy="970280"/>
            <a:chOff x="0" y="0"/>
            <a:chExt cx="3106079" cy="970560"/>
          </a:xfrm>
        </p:grpSpPr>
        <p:pic>
          <p:nvPicPr>
            <p:cNvPr id="12" name="4 2">
              <a:extLst>
                <a:ext uri="{FF2B5EF4-FFF2-40B4-BE49-F238E27FC236}">
                  <a16:creationId xmlns:a16="http://schemas.microsoft.com/office/drawing/2014/main" id="{3C3E9DFF-8F9F-49B7-B0EC-EE44976E6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/>
              <a:alphaModFix/>
            </a:blip>
            <a:srcRect/>
            <a:stretch>
              <a:fillRect/>
            </a:stretch>
          </p:blipFill>
          <p:spPr>
            <a:xfrm>
              <a:off x="926999" y="0"/>
              <a:ext cx="2179080" cy="623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3 2">
              <a:extLst>
                <a:ext uri="{FF2B5EF4-FFF2-40B4-BE49-F238E27FC236}">
                  <a16:creationId xmlns:a16="http://schemas.microsoft.com/office/drawing/2014/main" id="{A71BF93D-512F-4593-8820-37355814E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/>
              <a:alphaModFix/>
            </a:blip>
            <a:srcRect/>
            <a:stretch>
              <a:fillRect/>
            </a:stretch>
          </p:blipFill>
          <p:spPr>
            <a:xfrm flipH="1">
              <a:off x="0" y="925200"/>
              <a:ext cx="170280" cy="453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C9C84D8D-2046-400C-A9C6-4C5CE5D29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8541" y="433119"/>
            <a:ext cx="1366838" cy="87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781D232-3918-4D7A-97B5-ABED0BBF4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3400" y="568444"/>
            <a:ext cx="1765300" cy="85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7">
            <a:extLst>
              <a:ext uri="{FF2B5EF4-FFF2-40B4-BE49-F238E27FC236}">
                <a16:creationId xmlns:a16="http://schemas.microsoft.com/office/drawing/2014/main" id="{FF102F88-6476-4D53-896B-C08F67294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025" y="1995726"/>
            <a:ext cx="687162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INSTITUTO TECNOLÓGICO DE FRONTERA COMALAPA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Ingeniería sistemas computacionales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Semestre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 7°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Actividad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Reporte de Ejercicios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Alumno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Daniel osvaldo silias cárdenas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Docente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Francisco Javier Mingo Velazquez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No. Control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231260058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03/10/2026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181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rcRect l="43356" r="43356"/>
          <a:stretch>
            <a:fillRect/>
          </a:stretch>
        </p:blipFill>
        <p:spPr>
          <a:xfrm>
            <a:off x="10572750" y="0"/>
            <a:ext cx="161925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77A9F323-39CB-45BB-A4CA-3A3EDBD0DAEA}"/>
              </a:ext>
            </a:extLst>
          </p:cNvPr>
          <p:cNvSpPr>
            <a:spLocks noGrp="1"/>
          </p:cNvSpPr>
          <p:nvPr/>
        </p:nvSpPr>
        <p:spPr>
          <a:xfrm>
            <a:off x="11049000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350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D5A64C8-D8FA-490D-B97F-4CD94E92D5E1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382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3225" b="1">
                <a:solidFill>
                  <a:srgbClr val="102B4E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2B4E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Introducción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9BA713B-D6E7-43FF-BC72-165B97DB2299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8858250" cy="1295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250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La evaluación permite comparar los objetivos del proyecto con las actividades realizadas y las evidencias disponibles.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1933054-F4CD-4800-9F94-70A6E211B608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8858250" cy="1295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250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El cierre reúne los resultados, registra aprendizajes y formaliza la entrega de los productos comprometidos.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74DF55-6833-4694-8B8D-825067FA0DC5}"/>
              </a:ext>
            </a:extLst>
          </p:cNvPr>
          <p:cNvSpPr>
            <a:spLocks noGrp="1"/>
          </p:cNvSpPr>
          <p:nvPr/>
        </p:nvSpPr>
        <p:spPr>
          <a:xfrm>
            <a:off x="666750" y="4552950"/>
            <a:ext cx="8858250" cy="1295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250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Esta práctica aplica ambos procesos a Corona, Multired y Banco Bansiso. La revisión distingue la planificación académica del avance documentado para evitar conclusiones sin respaldo.</a:t>
            </a:r>
          </a:p>
        </p:txBody>
      </p:sp>
    </p:spTree>
    <p:extLst>
      <p:ext uri="{BB962C8B-B14F-4D97-AF65-F5344CB8AC3E}">
        <p14:creationId xmlns:p14="http://schemas.microsoft.com/office/powerpoint/2010/main" val="1016557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rcRect l="43356" r="43356"/>
          <a:stretch>
            <a:fillRect/>
          </a:stretch>
        </p:blipFill>
        <p:spPr>
          <a:xfrm>
            <a:off x="10572750" y="0"/>
            <a:ext cx="161925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57D0EAAC-9124-4519-8976-C4032FAD35AE}"/>
              </a:ext>
            </a:extLst>
          </p:cNvPr>
          <p:cNvSpPr>
            <a:spLocks noGrp="1"/>
          </p:cNvSpPr>
          <p:nvPr/>
        </p:nvSpPr>
        <p:spPr>
          <a:xfrm>
            <a:off x="11049000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6A9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626E74B-BE0B-41E3-80DC-E8252EBC95D5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382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3225" b="1">
                <a:solidFill>
                  <a:srgbClr val="102B4E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2B4E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Justificación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CDDA245-1686-49FD-8CCF-5A87D1926898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8858250" cy="1295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250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250" b="0" dirty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Una evaluación ordenada permite identificar desviaciones de alcance, retrasos y requisitos pendientes antes de concluir un proyecto.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FE56970-36B5-4C9F-848D-05EB0615D295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8858250" cy="1295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250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Los cronogramas, tableros de trabajo y modelos BPMN aportan evidencia para revisar el desempeño y explicar los cambios.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CE560E8-4B52-4EEC-9987-CF680C59CD85}"/>
              </a:ext>
            </a:extLst>
          </p:cNvPr>
          <p:cNvSpPr>
            <a:spLocks noGrp="1"/>
          </p:cNvSpPr>
          <p:nvPr/>
        </p:nvSpPr>
        <p:spPr>
          <a:xfrm>
            <a:off x="666750" y="4552950"/>
            <a:ext cx="8858250" cy="1295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250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Registrar las lecciones aprendidas y preparar el expediente final facilita la continuidad del trabajo y la revisión de futuras prácticas.</a:t>
            </a:r>
          </a:p>
        </p:txBody>
      </p:sp>
    </p:spTree>
    <p:extLst>
      <p:ext uri="{BB962C8B-B14F-4D97-AF65-F5344CB8AC3E}">
        <p14:creationId xmlns:p14="http://schemas.microsoft.com/office/powerpoint/2010/main" val="250854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rcRect l="43356" r="43356"/>
          <a:stretch>
            <a:fillRect/>
          </a:stretch>
        </p:blipFill>
        <p:spPr>
          <a:xfrm>
            <a:off x="10572750" y="0"/>
            <a:ext cx="161925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34BF1592-198B-4DEA-B4A8-0AA705750534}"/>
              </a:ext>
            </a:extLst>
          </p:cNvPr>
          <p:cNvSpPr>
            <a:spLocks noGrp="1"/>
          </p:cNvSpPr>
          <p:nvPr/>
        </p:nvSpPr>
        <p:spPr>
          <a:xfrm>
            <a:off x="11049000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350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BBA4C1A-5325-4435-8DAD-64C2ED4D0184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382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3225" b="1">
                <a:solidFill>
                  <a:srgbClr val="102B4E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2B4E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Objetivos de la práctica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5DFFFA0-F9CE-4231-A98B-657009339BE6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88582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00" b="1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Analizar la evaluación y el cierre de proyectos de TI mediante criterios de cumplimiento, lecciones aprendidas y documentación final.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A43B3B8-2CFA-4F3B-A71C-D72548B782C7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8858250" cy="676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00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Definir indicadores y evidencias para medir el éxito.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D42F2B5-B76B-4520-9618-448E52CBA878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8858250" cy="676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00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Contrastar lo planificado con el avance disponible.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7DE5BD-552D-4E2C-BB58-0ADC95FF3B64}"/>
              </a:ext>
            </a:extLst>
          </p:cNvPr>
          <p:cNvSpPr>
            <a:spLocks noGrp="1"/>
          </p:cNvSpPr>
          <p:nvPr/>
        </p:nvSpPr>
        <p:spPr>
          <a:xfrm>
            <a:off x="666750" y="4400550"/>
            <a:ext cx="8858250" cy="676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00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Registrar problemas, causas y recomendaciones.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ED62FEC-A300-4BE8-A04E-5940937DAF6D}"/>
              </a:ext>
            </a:extLst>
          </p:cNvPr>
          <p:cNvSpPr>
            <a:spLocks noGrp="1"/>
          </p:cNvSpPr>
          <p:nvPr/>
        </p:nvSpPr>
        <p:spPr>
          <a:xfrm>
            <a:off x="666750" y="5210175"/>
            <a:ext cx="8858250" cy="676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00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Organizar el expediente de cierre y la validación de la entrega.</a:t>
            </a:r>
          </a:p>
        </p:txBody>
      </p:sp>
    </p:spTree>
    <p:extLst>
      <p:ext uri="{BB962C8B-B14F-4D97-AF65-F5344CB8AC3E}">
        <p14:creationId xmlns:p14="http://schemas.microsoft.com/office/powerpoint/2010/main" val="437131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rcRect l="43356" r="43356"/>
          <a:stretch>
            <a:fillRect/>
          </a:stretch>
        </p:blipFill>
        <p:spPr>
          <a:xfrm>
            <a:off x="10572750" y="0"/>
            <a:ext cx="161925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FE4AF55E-AFD1-4888-BF96-B6BDA5D504EF}"/>
              </a:ext>
            </a:extLst>
          </p:cNvPr>
          <p:cNvSpPr>
            <a:spLocks noGrp="1"/>
          </p:cNvSpPr>
          <p:nvPr/>
        </p:nvSpPr>
        <p:spPr>
          <a:xfrm>
            <a:off x="11049000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350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2F5D35B-585C-40E6-B098-B737880B7D01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382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3225" b="1">
                <a:solidFill>
                  <a:srgbClr val="102B4E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2B4E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Evaluación y cierre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D02CB8F-579F-43C5-A0A4-2218D5584932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550" b="1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Evaluación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5F73974-DD58-4CC5-A478-D7922339CF9B}"/>
              </a:ext>
            </a:extLst>
          </p:cNvPr>
          <p:cNvSpPr>
            <a:spLocks noGrp="1"/>
          </p:cNvSpPr>
          <p:nvPr/>
        </p:nvSpPr>
        <p:spPr>
          <a:xfrm>
            <a:off x="666750" y="2295525"/>
            <a:ext cx="85725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75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Contrasta el desempeño con el alcance, las fechas, los requisitos y los criterios de calidad.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04F3F6D-C804-4CB0-9983-F8AB6E680C7F}"/>
              </a:ext>
            </a:extLst>
          </p:cNvPr>
          <p:cNvSpPr>
            <a:spLocks noGrp="1"/>
          </p:cNvSpPr>
          <p:nvPr/>
        </p:nvSpPr>
        <p:spPr>
          <a:xfrm>
            <a:off x="666750" y="3381375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550" b="1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Cierre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BD41331-3E6E-45E4-8AC2-CE0F6A880EED}"/>
              </a:ext>
            </a:extLst>
          </p:cNvPr>
          <p:cNvSpPr>
            <a:spLocks noGrp="1"/>
          </p:cNvSpPr>
          <p:nvPr/>
        </p:nvSpPr>
        <p:spPr>
          <a:xfrm>
            <a:off x="666750" y="3962400"/>
            <a:ext cx="85725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75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Concluye las actividades, integra el expediente final y documenta la aceptación y los pendientes.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43F49D3-8306-4143-AA4B-96776FEC8CE6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8382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800" b="1">
                <a:solidFill>
                  <a:srgbClr val="102B4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B4E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La conclusión de una tarea debe respaldarse con evidencia de lo realizado y de los resultados obtenidos.</a:t>
            </a:r>
          </a:p>
        </p:txBody>
      </p:sp>
    </p:spTree>
    <p:extLst>
      <p:ext uri="{BB962C8B-B14F-4D97-AF65-F5344CB8AC3E}">
        <p14:creationId xmlns:p14="http://schemas.microsoft.com/office/powerpoint/2010/main" val="741293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234FFCD-2C9D-4702-AC41-EADFD4AD59A5}"/>
              </a:ext>
            </a:extLst>
          </p:cNvPr>
          <p:cNvSpPr>
            <a:spLocks noGrp="1"/>
          </p:cNvSpPr>
          <p:nvPr/>
        </p:nvSpPr>
        <p:spPr>
          <a:xfrm>
            <a:off x="11049000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350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06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63671BD-C33E-4A2D-830B-38C62C8870FE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382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3225" b="1">
                <a:solidFill>
                  <a:srgbClr val="102B4E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2B4E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Criterios para medir el éxito</a:t>
            </a:r>
          </a:p>
        </p:txBody>
      </p:sp>
      <p:graphicFrame>
        <p:nvGraphicFramePr>
          <p:cNvPr id="6" name="Tabla 5"/>
          <p:cNvGraphicFramePr/>
          <p:nvPr>
            <p:extLst>
              <p:ext uri="{D42A27DB-BD31-4B8C-83A1-F6EECF244321}">
                <p14:modId xmlns:p14="http://schemas.microsoft.com/office/powerpoint/2010/main" val="2169824212"/>
              </p:ext>
            </p:extLst>
          </p:nvPr>
        </p:nvGraphicFramePr>
        <p:xfrm>
          <a:off x="666750" y="1562100"/>
          <a:ext cx="10668000" cy="4190998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pPr algn="just"/>
                      <a:r>
                        <a:rPr sz="1725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Criterio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25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Aspecto que se evalúa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725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Evidencia necesaria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just"/>
                      <a:r>
                        <a:rPr sz="1650" b="0">
                          <a:solidFill>
                            <a:srgbClr val="263E53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Alcance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 b="0">
                          <a:solidFill>
                            <a:srgbClr val="263E53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Funciones y actividades acordadas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 b="0">
                          <a:solidFill>
                            <a:srgbClr val="263E53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Requisitos y entregables revisados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just"/>
                      <a:r>
                        <a:rPr sz="1650" b="0">
                          <a:solidFill>
                            <a:srgbClr val="263E53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Tiempo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 b="0">
                          <a:solidFill>
                            <a:srgbClr val="263E53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Fechas previstas y fechas reales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 b="0">
                          <a:solidFill>
                            <a:srgbClr val="263E53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Cronograma y registros de avance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just"/>
                      <a:r>
                        <a:rPr sz="1650" b="0">
                          <a:solidFill>
                            <a:srgbClr val="263E53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Calidad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 b="0">
                          <a:solidFill>
                            <a:srgbClr val="263E53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Funcionamiento y errores detectados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 b="0">
                          <a:solidFill>
                            <a:srgbClr val="263E53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Casos de prueba y resultados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just"/>
                      <a:r>
                        <a:rPr sz="1650" b="0">
                          <a:solidFill>
                            <a:srgbClr val="263E53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Requisitos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 b="0">
                          <a:solidFill>
                            <a:srgbClr val="263E53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Cobertura de las funciones definidas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 b="0">
                          <a:solidFill>
                            <a:srgbClr val="263E53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Historias de usuario validadas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just"/>
                      <a:r>
                        <a:rPr sz="1650" b="0">
                          <a:solidFill>
                            <a:srgbClr val="263E53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Documentación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 b="0">
                          <a:solidFill>
                            <a:srgbClr val="263E53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Información técnica y administrativa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 b="0">
                          <a:solidFill>
                            <a:srgbClr val="263E53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Reportes, manuales y capturas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just"/>
                      <a:r>
                        <a:rPr sz="1650" b="0" dirty="0">
                          <a:solidFill>
                            <a:srgbClr val="263E53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Aceptación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 b="0">
                          <a:solidFill>
                            <a:srgbClr val="263E53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Conformidad del responsable o cliente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650" b="0" dirty="0">
                          <a:solidFill>
                            <a:srgbClr val="263E53"/>
                          </a:solidFill>
                          <a:latin typeface="Arial" panose="020B0604020202020204" pitchFamily="34" charset="0"/>
                          <a:ea typeface="Aptos"/>
                          <a:cs typeface="Arial" panose="020B0604020202020204" pitchFamily="34" charset="0"/>
                        </a:rPr>
                        <a:t>Registro de validación o acta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985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EEBB7DB5-5A78-4955-943D-F9EB54F7DAFF}"/>
              </a:ext>
            </a:extLst>
          </p:cNvPr>
          <p:cNvSpPr>
            <a:spLocks noGrp="1"/>
          </p:cNvSpPr>
          <p:nvPr/>
        </p:nvSpPr>
        <p:spPr>
          <a:xfrm>
            <a:off x="11049000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350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07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DB7024E-2803-44ED-8230-F80184621F57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382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3225" b="1">
                <a:solidFill>
                  <a:srgbClr val="102B4E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2B4E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Registro de evaluación</a:t>
            </a:r>
          </a:p>
        </p:txBody>
      </p:sp>
      <p:graphicFrame>
        <p:nvGraphicFramePr>
          <p:cNvPr id="7" name="Tabla 6"/>
          <p:cNvGraphicFramePr/>
          <p:nvPr/>
        </p:nvGraphicFramePr>
        <p:xfrm>
          <a:off x="666750" y="1562100"/>
          <a:ext cx="10668000" cy="4190998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Criterio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Meta de referencia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Resultado disponible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Estado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Alcance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Actividades completas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Según evidencia del proyecto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Por evaluar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Cronograma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Fechas acordadas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Revisión del seguimiento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Por evaluar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Calidad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Simulación funcional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Pruebas pendientes de validar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Por evaluar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Requisitos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Funciones cubiertas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Validación 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Por evaluar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Documentación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Expediente completo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Integración pendiente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Por evaluar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Aceptación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Entrega validada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Conformidad 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Por evaluar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E557D455-70D0-4413-AC93-91DFADB527E0}"/>
              </a:ext>
            </a:extLst>
          </p:cNvPr>
          <p:cNvSpPr>
            <a:spLocks noGrp="1"/>
          </p:cNvSpPr>
          <p:nvPr/>
        </p:nvSpPr>
        <p:spPr>
          <a:xfrm>
            <a:off x="666750" y="5953125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575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El formato se completa con resultados comprobados. No representa una calificación final.</a:t>
            </a:r>
          </a:p>
        </p:txBody>
      </p:sp>
    </p:spTree>
    <p:extLst>
      <p:ext uri="{BB962C8B-B14F-4D97-AF65-F5344CB8AC3E}">
        <p14:creationId xmlns:p14="http://schemas.microsoft.com/office/powerpoint/2010/main" val="1499156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14F96EB-406F-43C1-B39E-7C03F0EE5083}"/>
              </a:ext>
            </a:extLst>
          </p:cNvPr>
          <p:cNvSpPr>
            <a:spLocks noGrp="1"/>
          </p:cNvSpPr>
          <p:nvPr/>
        </p:nvSpPr>
        <p:spPr>
          <a:xfrm>
            <a:off x="11049000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08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ED7D0D5-7268-4C8A-AF90-01AF5E5829E3}"/>
              </a:ext>
            </a:extLst>
          </p:cNvPr>
          <p:cNvSpPr>
            <a:spLocks noGrp="1"/>
          </p:cNvSpPr>
          <p:nvPr/>
        </p:nvSpPr>
        <p:spPr>
          <a:xfrm>
            <a:off x="487641" y="89205"/>
            <a:ext cx="10382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3225" b="1">
                <a:solidFill>
                  <a:srgbClr val="102B4E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2B4E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Caso Corona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475C469-E4E9-43A1-9B8C-AABC1EBDC881}"/>
              </a:ext>
            </a:extLst>
          </p:cNvPr>
          <p:cNvSpPr>
            <a:spLocks noGrp="1"/>
          </p:cNvSpPr>
          <p:nvPr/>
        </p:nvSpPr>
        <p:spPr>
          <a:xfrm>
            <a:off x="345377" y="638175"/>
            <a:ext cx="9715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00" b="1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Simulación del proceso de producción, inventario, almacenamiento, distribución y ventas.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3789335-5830-4ADD-9EE6-C68C00696C53}"/>
              </a:ext>
            </a:extLst>
          </p:cNvPr>
          <p:cNvSpPr>
            <a:spLocks noGrp="1"/>
          </p:cNvSpPr>
          <p:nvPr/>
        </p:nvSpPr>
        <p:spPr>
          <a:xfrm>
            <a:off x="345377" y="1559616"/>
            <a:ext cx="6191250" cy="1076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875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La planificación contempla siete actividades y diez historias de usuario en Jira, con un cronograma en ProjectLibre.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9095887-5802-4C33-BEA6-B66A5F30C7C4}"/>
              </a:ext>
            </a:extLst>
          </p:cNvPr>
          <p:cNvSpPr>
            <a:spLocks noGrp="1"/>
          </p:cNvSpPr>
          <p:nvPr/>
        </p:nvSpPr>
        <p:spPr>
          <a:xfrm>
            <a:off x="288347" y="2352675"/>
            <a:ext cx="6191250" cy="1076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875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El caso de referencia registra CR-2026-001: la simulación de producción cambia de 6 a 8 días.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B68EE98-0CAF-4A0C-9AE3-D53526306BCD}"/>
              </a:ext>
            </a:extLst>
          </p:cNvPr>
          <p:cNvSpPr>
            <a:spLocks noGrp="1"/>
          </p:cNvSpPr>
          <p:nvPr/>
        </p:nvSpPr>
        <p:spPr>
          <a:xfrm>
            <a:off x="288347" y="2935440"/>
            <a:ext cx="6191250" cy="1076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875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La evaluación final requiere verificar la integración de las etapas, ejecutar pruebas y documentar resultados. El material disponible no permite calcular un porcentaje final de éxito.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01DE8A8-52BF-45EE-85B2-DC4F789450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063" y="1911677"/>
            <a:ext cx="3983183" cy="287298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83B9F10-9F8C-45D7-8271-901F1A8A2F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15372"/>
            <a:ext cx="5411933" cy="265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335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0ED4C74-CA90-4CAE-A5A9-610E61D56665}"/>
              </a:ext>
            </a:extLst>
          </p:cNvPr>
          <p:cNvSpPr>
            <a:spLocks noGrp="1"/>
          </p:cNvSpPr>
          <p:nvPr/>
        </p:nvSpPr>
        <p:spPr>
          <a:xfrm>
            <a:off x="11049000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6A9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DFB908A-8517-4ABF-8A15-F4860E9BC65B}"/>
              </a:ext>
            </a:extLst>
          </p:cNvPr>
          <p:cNvSpPr>
            <a:spLocks noGrp="1"/>
          </p:cNvSpPr>
          <p:nvPr/>
        </p:nvSpPr>
        <p:spPr>
          <a:xfrm>
            <a:off x="333375" y="38100"/>
            <a:ext cx="10382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3225" b="1">
                <a:solidFill>
                  <a:srgbClr val="102B4E"/>
                </a:solidFill>
                <a:latin typeface="Aptos"/>
                <a:ea typeface="Aptos"/>
                <a:cs typeface="Aptos"/>
              </a:defRPr>
            </a:pPr>
            <a:r>
              <a:rPr sz="3225" b="1" dirty="0">
                <a:solidFill>
                  <a:srgbClr val="102B4E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Caso Multired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906F8DA-B1D0-43E9-97A4-C6E2449E068D}"/>
              </a:ext>
            </a:extLst>
          </p:cNvPr>
          <p:cNvSpPr>
            <a:spLocks noGrp="1"/>
          </p:cNvSpPr>
          <p:nvPr/>
        </p:nvSpPr>
        <p:spPr>
          <a:xfrm>
            <a:off x="263627" y="600075"/>
            <a:ext cx="9715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00" b="1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Simulación y optimización de retiros y consultas de saldo en un proceso interbancario.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859C79A-AB5C-4843-AEB9-62D4C7F0D837}"/>
              </a:ext>
            </a:extLst>
          </p:cNvPr>
          <p:cNvSpPr>
            <a:spLocks noGrp="1"/>
          </p:cNvSpPr>
          <p:nvPr/>
        </p:nvSpPr>
        <p:spPr>
          <a:xfrm>
            <a:off x="450441" y="1066185"/>
            <a:ext cx="6191250" cy="1076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875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El material de referencia registra un seguimiento del 18/09/2026 y un avance del 45 % en el ajuste del modelo BPMN.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764572C-1491-432A-A164-109575E0010A}"/>
              </a:ext>
            </a:extLst>
          </p:cNvPr>
          <p:cNvSpPr>
            <a:spLocks noGrp="1"/>
          </p:cNvSpPr>
          <p:nvPr/>
        </p:nvSpPr>
        <p:spPr>
          <a:xfrm>
            <a:off x="450441" y="1937722"/>
            <a:ext cx="6191250" cy="1076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875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Los ajustes afectan posiciones y conexiones. El trabajo utiliza Draw.io, Camunda, Bizagi y Bonita.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5D83C89-43D8-40B2-AFA2-A9FB64D2D7A5}"/>
              </a:ext>
            </a:extLst>
          </p:cNvPr>
          <p:cNvSpPr>
            <a:spLocks noGrp="1"/>
          </p:cNvSpPr>
          <p:nvPr/>
        </p:nvSpPr>
        <p:spPr>
          <a:xfrm>
            <a:off x="450441" y="2545774"/>
            <a:ext cx="6191250" cy="1076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875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La fecha propuesta del 05/10/2026 requiere confirmar el cronograma. Antes del cierre deben actualizarse el avance, las simulaciones y la documentación.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CB5398B-4AB1-4DA8-ADCF-1982F9C3E7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27" y="4139381"/>
            <a:ext cx="5529673" cy="238524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B07CCDC-AFE0-4FD6-8C29-6D92EAC73E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1691" y="1102441"/>
            <a:ext cx="5360725" cy="289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721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72CA86C2-810A-4F7C-9D84-20E1E2689807}"/>
              </a:ext>
            </a:extLst>
          </p:cNvPr>
          <p:cNvSpPr>
            <a:spLocks noGrp="1"/>
          </p:cNvSpPr>
          <p:nvPr/>
        </p:nvSpPr>
        <p:spPr>
          <a:xfrm>
            <a:off x="11049000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6A9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0DD0608-3E7C-48C0-88EB-F31A63D3BB3E}"/>
              </a:ext>
            </a:extLst>
          </p:cNvPr>
          <p:cNvSpPr>
            <a:spLocks noGrp="1"/>
          </p:cNvSpPr>
          <p:nvPr/>
        </p:nvSpPr>
        <p:spPr>
          <a:xfrm>
            <a:off x="285750" y="0"/>
            <a:ext cx="10382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3225" b="1">
                <a:solidFill>
                  <a:srgbClr val="102B4E"/>
                </a:solidFill>
                <a:latin typeface="Aptos"/>
                <a:ea typeface="Aptos"/>
                <a:cs typeface="Aptos"/>
              </a:defRPr>
            </a:pPr>
            <a:r>
              <a:rPr sz="3225" b="1" dirty="0">
                <a:solidFill>
                  <a:srgbClr val="102B4E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Caso Banco Bansiso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E28DD96-6931-49E8-A449-FB6479B8EDCA}"/>
              </a:ext>
            </a:extLst>
          </p:cNvPr>
          <p:cNvSpPr>
            <a:spLocks noGrp="1"/>
          </p:cNvSpPr>
          <p:nvPr/>
        </p:nvSpPr>
        <p:spPr>
          <a:xfrm>
            <a:off x="175137" y="628650"/>
            <a:ext cx="9715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00" b="1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Simulación de la llegada de clientes, las filas y la atención en ventanillas bajo distintos escenarios.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B75C7E6-CBA7-4FA1-92D4-639978948D05}"/>
              </a:ext>
            </a:extLst>
          </p:cNvPr>
          <p:cNvSpPr>
            <a:spLocks noGrp="1"/>
          </p:cNvSpPr>
          <p:nvPr/>
        </p:nvSpPr>
        <p:spPr>
          <a:xfrm>
            <a:off x="175137" y="1274814"/>
            <a:ext cx="6191250" cy="1076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875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El plan organiza siete actividades mediante ProjectLibre y utiliza Jira para las historias de usuario.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90BCC4C-A003-4BB5-B1CC-84D18F195A05}"/>
              </a:ext>
            </a:extLst>
          </p:cNvPr>
          <p:cNvSpPr>
            <a:spLocks noGrp="1"/>
          </p:cNvSpPr>
          <p:nvPr/>
        </p:nvSpPr>
        <p:spPr>
          <a:xfrm>
            <a:off x="175137" y="1871663"/>
            <a:ext cx="6191250" cy="1076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875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La información disponible describe principalmente la planificación académica.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A89A729-DFB4-427E-9C10-D3698C4F0B80}"/>
              </a:ext>
            </a:extLst>
          </p:cNvPr>
          <p:cNvSpPr>
            <a:spLocks noGrp="1"/>
          </p:cNvSpPr>
          <p:nvPr/>
        </p:nvSpPr>
        <p:spPr>
          <a:xfrm>
            <a:off x="175137" y="2457526"/>
            <a:ext cx="6191250" cy="1076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875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La evaluación debe contrastar el funcionamiento de los escenarios con sus requisitos y resultados. El grado de éxito se determina después de completar las pruebas y el análisis.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F4FEE6E-CCF0-4C4D-999A-03B34D0A31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19" y="4050730"/>
            <a:ext cx="4840346" cy="242832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6C266A8-A3E4-47F5-861E-5188172BF2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436" y="1287900"/>
            <a:ext cx="5912247" cy="300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1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0DFD41A-1CE8-4659-B73C-4B6FA041CEC2}"/>
              </a:ext>
            </a:extLst>
          </p:cNvPr>
          <p:cNvSpPr>
            <a:spLocks noGrp="1"/>
          </p:cNvSpPr>
          <p:nvPr/>
        </p:nvSpPr>
        <p:spPr>
          <a:xfrm>
            <a:off x="11049000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350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A56F1A6-18C4-4E8D-B2BD-F9148CF1C4CE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382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3225" b="1">
                <a:solidFill>
                  <a:srgbClr val="102B4E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2B4E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Lecciones aprendidas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562100"/>
          <a:ext cx="10668000" cy="37147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Situación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Aprendizaje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Acción recomendada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Cambios en la planificación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Las duraciones afectan tareas dependientes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Revisar el impacto y actualizar el cronograma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Modelado BPMN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La compatibilidad requiere validación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Probar las importaciones desde el inicio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Seguimiento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Los retrasos pueden propagarse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Revisar avances y registrar incidencias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Pruebas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Un solo escenario ofrece evidencia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Definir casos antes de ejecutar la simulación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Documentación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El registro tardío puede perder detalles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Actualizar las evidencias durante el trabajo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820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rcRect l="43356" r="43356"/>
          <a:stretch>
            <a:fillRect/>
          </a:stretch>
        </p:blipFill>
        <p:spPr>
          <a:xfrm>
            <a:off x="10572750" y="0"/>
            <a:ext cx="161925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6676C7C8-19DD-4141-B0DC-94CC8E27E529}"/>
              </a:ext>
            </a:extLst>
          </p:cNvPr>
          <p:cNvSpPr>
            <a:spLocks noGrp="1"/>
          </p:cNvSpPr>
          <p:nvPr/>
        </p:nvSpPr>
        <p:spPr>
          <a:xfrm>
            <a:off x="11049000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350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92A4F9F-1CCA-4128-A9DE-BC190AF7798E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382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3225" b="1">
                <a:solidFill>
                  <a:srgbClr val="102B4E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2B4E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Aplicación de los aprendizajes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F23510F-FE93-4963-8AF3-CED9D6F7C900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8858250" cy="93821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00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Antes de modificar la duración de una actividad, revisar sus dependencias y el efecto sobre la fecha de entrega.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672C7A3-3A8D-4632-82A7-0468184E8031}"/>
              </a:ext>
            </a:extLst>
          </p:cNvPr>
          <p:cNvSpPr>
            <a:spLocks noGrp="1"/>
          </p:cNvSpPr>
          <p:nvPr/>
        </p:nvSpPr>
        <p:spPr>
          <a:xfrm>
            <a:off x="666750" y="2767013"/>
            <a:ext cx="8858250" cy="93821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00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Al trasladar un modelo entre herramientas, comprobar sus conexiones y ejecutar una prueba de importación.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6046CC5-1FD6-4684-B0CF-6D8B811FA074}"/>
              </a:ext>
            </a:extLst>
          </p:cNvPr>
          <p:cNvSpPr>
            <a:spLocks noGrp="1"/>
          </p:cNvSpPr>
          <p:nvPr/>
        </p:nvSpPr>
        <p:spPr>
          <a:xfrm>
            <a:off x="666750" y="3838575"/>
            <a:ext cx="8858250" cy="93821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00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Preparar escenarios de operación y de falla para evaluar el comportamiento de la simulación.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37031B0-C1BC-4E47-9CAD-635D0EC9F446}"/>
              </a:ext>
            </a:extLst>
          </p:cNvPr>
          <p:cNvSpPr>
            <a:spLocks noGrp="1"/>
          </p:cNvSpPr>
          <p:nvPr/>
        </p:nvSpPr>
        <p:spPr>
          <a:xfrm>
            <a:off x="666750" y="4910138"/>
            <a:ext cx="8858250" cy="93821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00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Registrar cada cambio junto con su motivo, responsable y evidencia. Revisar el avance de forma periódica.</a:t>
            </a:r>
          </a:p>
        </p:txBody>
      </p:sp>
    </p:spTree>
    <p:extLst>
      <p:ext uri="{BB962C8B-B14F-4D97-AF65-F5344CB8AC3E}">
        <p14:creationId xmlns:p14="http://schemas.microsoft.com/office/powerpoint/2010/main" val="2136190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EBFA9F5-ADB9-4BAE-BF60-A1ECFE31AB43}"/>
              </a:ext>
            </a:extLst>
          </p:cNvPr>
          <p:cNvSpPr>
            <a:spLocks noGrp="1"/>
          </p:cNvSpPr>
          <p:nvPr/>
        </p:nvSpPr>
        <p:spPr>
          <a:xfrm>
            <a:off x="11049000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13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8ED313A-DB16-464D-BB1A-F298BFE540BA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382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02B4E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2B4E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Registro de lecciones por proyecto</a:t>
            </a:r>
          </a:p>
        </p:txBody>
      </p:sp>
      <p:graphicFrame>
        <p:nvGraphicFramePr>
          <p:cNvPr id="7" name="Tabla 6"/>
          <p:cNvGraphicFramePr/>
          <p:nvPr/>
        </p:nvGraphicFramePr>
        <p:xfrm>
          <a:off x="666750" y="1562100"/>
          <a:ext cx="10668000" cy="3333752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34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Proyecto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Situación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Causa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Aprendizaje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Acción recomendada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Corona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Cierre pendiente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Por confirmar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La validación requiere pruebas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Documentar los hallazgos finales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Multired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Ajustes del modelo BPMN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Posiciones y conexiones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Validar antes de simular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Revisar conexiones y compatibilidad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Banco Bansiso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Resultados pendientes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Por confirmar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Evaluar con datos de los escenarios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Ejecutar pruebas y registrar resultados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530892A1-807D-4B0F-B07C-3609A4564CF4}"/>
              </a:ext>
            </a:extLst>
          </p:cNvPr>
          <p:cNvSpPr>
            <a:spLocks noGrp="1"/>
          </p:cNvSpPr>
          <p:nvPr/>
        </p:nvSpPr>
        <p:spPr>
          <a:xfrm>
            <a:off x="666750" y="5953125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Cada registro debe incorporar la causa confirmada, la fecha, el responsable y la evidencia al finalizar las pruebas.</a:t>
            </a:r>
          </a:p>
        </p:txBody>
      </p:sp>
    </p:spTree>
    <p:extLst>
      <p:ext uri="{BB962C8B-B14F-4D97-AF65-F5344CB8AC3E}">
        <p14:creationId xmlns:p14="http://schemas.microsoft.com/office/powerpoint/2010/main" val="2049455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10AB0B0-E7BB-4531-9A9E-3EB45003142B}"/>
              </a:ext>
            </a:extLst>
          </p:cNvPr>
          <p:cNvSpPr>
            <a:spLocks noGrp="1"/>
          </p:cNvSpPr>
          <p:nvPr/>
        </p:nvSpPr>
        <p:spPr>
          <a:xfrm>
            <a:off x="11049000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350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14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CBB920A-8921-46A1-8F86-4E85976DB098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382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3225" b="1">
                <a:solidFill>
                  <a:srgbClr val="102B4E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2B4E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Proceso de cierre propuesto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562100"/>
          <a:ext cx="10668000" cy="41910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Etapa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Actividad principal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Producto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1. Verificación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Contrastar alcance y requisitos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Lista de cumplimiento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2. Pruebas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Validar el funcionamiento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Resultados y evidencias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3. Evaluación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Revisar alcance, tiempo y calidad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Informe de evaluación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4. Aprendizajes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Analizar incidencias y recomendaciones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Registro de lecciones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5. Documentación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Integrar la información final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Expediente del proyecto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6. Entrega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Presentar productos y resultados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Registro de entrega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7. Cierre formal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Confirmar aceptación y archivar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Acta o constancia de cierre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810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B1CF5741-2EAF-4F4B-9EC5-D78DBA40DC4F}"/>
              </a:ext>
            </a:extLst>
          </p:cNvPr>
          <p:cNvSpPr>
            <a:spLocks noGrp="1"/>
          </p:cNvSpPr>
          <p:nvPr/>
        </p:nvSpPr>
        <p:spPr>
          <a:xfrm>
            <a:off x="11049000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350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15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D84FAAB-D0F2-43B3-8ECE-D34B899BA9C4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382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3225" b="1">
                <a:solidFill>
                  <a:srgbClr val="102B4E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2B4E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Situación de los proyectos</a:t>
            </a:r>
          </a:p>
        </p:txBody>
      </p:sp>
      <p:graphicFrame>
        <p:nvGraphicFramePr>
          <p:cNvPr id="7" name="Tabla 6"/>
          <p:cNvGraphicFramePr/>
          <p:nvPr/>
        </p:nvGraphicFramePr>
        <p:xfrm>
          <a:off x="666750" y="1562100"/>
          <a:ext cx="10668000" cy="3333752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34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Proyecto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Evidencia de referencia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Requisitos antes del cierre</a:t>
                      </a:r>
                    </a:p>
                  </a:txBody>
                  <a:tcPr>
                    <a:solidFill>
                      <a:srgbClr val="10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Corona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Planificación, cronograma, Jira y CR-2026-001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Completar y validar los resultados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Multired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Planificación y seguimiento del 18/09/2026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Actualizar avance, simulación y documentos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Banco Bansiso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Planificación, cronograma e historias en Jira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E53"/>
                          </a:solidFill>
                          <a:latin typeface="Aptos"/>
                          <a:ea typeface="Aptos"/>
                          <a:cs typeface="Aptos"/>
                        </a:rPr>
                        <a:t>Completar pruebas, análisis y expediente</a:t>
                      </a:r>
                    </a:p>
                  </a:txBody>
                  <a:tcPr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722FF279-4B9F-4625-86D9-61FE908D905B}"/>
              </a:ext>
            </a:extLst>
          </p:cNvPr>
          <p:cNvSpPr>
            <a:spLocks noGrp="1"/>
          </p:cNvSpPr>
          <p:nvPr/>
        </p:nvSpPr>
        <p:spPr>
          <a:xfrm>
            <a:off x="666750" y="5953125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575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La planificación orienta el trabajo. La evidencia de ejecución permite demostrar el cumplimiento y formalizar el cierre.</a:t>
            </a:r>
          </a:p>
        </p:txBody>
      </p:sp>
    </p:spTree>
    <p:extLst>
      <p:ext uri="{BB962C8B-B14F-4D97-AF65-F5344CB8AC3E}">
        <p14:creationId xmlns:p14="http://schemas.microsoft.com/office/powerpoint/2010/main" val="7159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rcRect l="43356" r="43356"/>
          <a:stretch>
            <a:fillRect/>
          </a:stretch>
        </p:blipFill>
        <p:spPr>
          <a:xfrm>
            <a:off x="10572750" y="0"/>
            <a:ext cx="161925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E9DB8E0D-6E90-422C-8217-C47F08E21934}"/>
              </a:ext>
            </a:extLst>
          </p:cNvPr>
          <p:cNvSpPr>
            <a:spLocks noGrp="1"/>
          </p:cNvSpPr>
          <p:nvPr/>
        </p:nvSpPr>
        <p:spPr>
          <a:xfrm>
            <a:off x="11049000" y="62388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350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16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8E81C34-201B-40C3-80E7-A3A37F24F51E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382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3225" b="1">
                <a:solidFill>
                  <a:srgbClr val="102B4E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2B4E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Conclusiones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C26158B-0207-4B0B-BCAD-9038474EAA0A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88582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00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La evaluación de un proyecto debe apoyarse en criterios claros y evidencia suficiente para verificar sus objetivos.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2B8831E-BB9B-42A8-A1AD-8798541305EB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88582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00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Las lecciones aprendidas permiten transformar problemas del desarrollo en recomendaciones para próximos trabajos.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192E596-A239-4252-A23E-F90FD872ACCC}"/>
              </a:ext>
            </a:extLst>
          </p:cNvPr>
          <p:cNvSpPr>
            <a:spLocks noGrp="1"/>
          </p:cNvSpPr>
          <p:nvPr/>
        </p:nvSpPr>
        <p:spPr>
          <a:xfrm>
            <a:off x="666750" y="3429000"/>
            <a:ext cx="88582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00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100" b="0" dirty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En los casos revisados, el cierre exige completar pruebas, confirmar resultados y reunir la documentación correspondiente.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9F02ACA-8B34-4B9F-883B-D98F9C871F5A}"/>
              </a:ext>
            </a:extLst>
          </p:cNvPr>
          <p:cNvSpPr>
            <a:spLocks noGrp="1"/>
          </p:cNvSpPr>
          <p:nvPr/>
        </p:nvSpPr>
        <p:spPr>
          <a:xfrm>
            <a:off x="666750" y="4143375"/>
            <a:ext cx="88582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00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r>
              <a:rPr sz="2100" b="0" dirty="0">
                <a:solidFill>
                  <a:srgbClr val="263E53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Un expediente final organizado facilita la entrega, la trazabilidad y la continuidad del proyecto.</a:t>
            </a:r>
            <a:endParaRPr lang="es-MX" sz="2100" b="0" dirty="0">
              <a:solidFill>
                <a:srgbClr val="263E53"/>
              </a:solidFill>
              <a:latin typeface="Arial" panose="020B0604020202020204" pitchFamily="34" charset="0"/>
              <a:ea typeface="Aptos"/>
              <a:cs typeface="Arial" panose="020B0604020202020204" pitchFamily="34" charset="0"/>
            </a:endParaRPr>
          </a:p>
          <a:p>
            <a:pPr lvl="0"/>
            <a:r>
              <a:rPr lang="es-MX" dirty="0"/>
              <a:t>Fuentes de Informacion</a:t>
            </a:r>
          </a:p>
          <a:p>
            <a:pPr lvl="0"/>
            <a:r>
              <a:rPr lang="es-MX" u="sng" dirty="0">
                <a:hlinkClick r:id="rId4"/>
              </a:rPr>
              <a:t>https://fastercapital.com/es/tema/cierre-y-evaluaci%C3%B3n-del-proyecto.html</a:t>
            </a:r>
            <a:endParaRPr lang="es-MX" dirty="0"/>
          </a:p>
          <a:p>
            <a:pPr lvl="0"/>
            <a:r>
              <a:rPr lang="es-MX" u="sng" dirty="0">
                <a:hlinkClick r:id="rId5"/>
              </a:rPr>
              <a:t>https://aprendeindustrial.com/evaluacion-y-cierre-de-proyectos/</a:t>
            </a:r>
            <a:endParaRPr lang="es-MX" dirty="0"/>
          </a:p>
          <a:p>
            <a:pPr lvl="0"/>
            <a:r>
              <a:rPr lang="es-MX" u="sng" dirty="0">
                <a:hlinkClick r:id="rId6"/>
              </a:rPr>
              <a:t>https://es.scribd.com/document/481974672/CIERRE-DE-PROYECTOS-Y-EVALUACION</a:t>
            </a:r>
            <a:endParaRPr lang="es-MX" dirty="0"/>
          </a:p>
          <a:p>
            <a:pPr algn="just">
              <a:defRPr sz="2100" b="0">
                <a:solidFill>
                  <a:srgbClr val="263E53"/>
                </a:solidFill>
                <a:latin typeface="Aptos"/>
                <a:ea typeface="Aptos"/>
                <a:cs typeface="Aptos"/>
              </a:defRPr>
            </a:pPr>
            <a:endParaRPr sz="2100" b="0" dirty="0">
              <a:solidFill>
                <a:srgbClr val="263E53"/>
              </a:solidFill>
              <a:latin typeface="Arial" panose="020B0604020202020204" pitchFamily="34" charset="0"/>
              <a:ea typeface="Aptos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27B1DB0-ECA6-4383-9EAD-31DCC72CFCF6}"/>
              </a:ext>
            </a:extLst>
          </p:cNvPr>
          <p:cNvSpPr>
            <a:spLocks noGrp="1"/>
          </p:cNvSpPr>
          <p:nvPr/>
        </p:nvSpPr>
        <p:spPr>
          <a:xfrm>
            <a:off x="714375" y="6209993"/>
            <a:ext cx="8763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650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Repositorio de evidencias: </a:t>
            </a:r>
            <a:r>
              <a:rPr lang="es-MX" sz="1650" dirty="0">
                <a:solidFill>
                  <a:srgbClr val="136A91"/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  <a:hlinkClick r:id="rId7"/>
              </a:rPr>
              <a:t>https://github.com/danielsilias/Gestion_GPTI.git</a:t>
            </a:r>
            <a:endParaRPr lang="es-MX" sz="1650" dirty="0">
              <a:solidFill>
                <a:srgbClr val="136A91"/>
              </a:solidFill>
              <a:latin typeface="Arial" panose="020B0604020202020204" pitchFamily="34" charset="0"/>
              <a:ea typeface="Aptos"/>
              <a:cs typeface="Arial" panose="020B0604020202020204" pitchFamily="34" charset="0"/>
            </a:endParaRPr>
          </a:p>
          <a:p>
            <a:pPr algn="just">
              <a:defRPr sz="1650" b="0">
                <a:solidFill>
                  <a:srgbClr val="136A91"/>
                </a:solidFill>
                <a:latin typeface="Aptos"/>
                <a:ea typeface="Aptos"/>
                <a:cs typeface="Aptos"/>
              </a:defRPr>
            </a:pPr>
            <a:endParaRPr sz="1650" b="0" dirty="0">
              <a:solidFill>
                <a:srgbClr val="136A91"/>
              </a:solidFill>
              <a:latin typeface="Arial" panose="020B0604020202020204" pitchFamily="34" charset="0"/>
              <a:ea typeface="Aptos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8910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1177</Words>
  <Application>Microsoft Office PowerPoint</Application>
  <DocSecurity>0</DocSecurity>
  <PresentationFormat>Panorámica</PresentationFormat>
  <Paragraphs>211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Arial</vt:lpstr>
      <vt:lpstr>Noto Sans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Daniel Silias</cp:lastModifiedBy>
  <cp:revision>7</cp:revision>
  <dcterms:created xsi:type="dcterms:W3CDTF">2026-10-02T20:09:28Z</dcterms:created>
  <dcterms:modified xsi:type="dcterms:W3CDTF">2026-10-03T04:24:03Z</dcterms:modified>
</cp:coreProperties>
</file>