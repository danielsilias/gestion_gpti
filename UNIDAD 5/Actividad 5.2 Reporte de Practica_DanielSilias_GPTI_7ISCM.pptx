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5" r:id="rId1"/>
  </p:sldMasterIdLst>
  <p:notesMasterIdLst>
    <p:notesMasterId r:id="rId22"/>
  </p:notesMasterIdLst>
  <p:sldIdLst>
    <p:sldId id="27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944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36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983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883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290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340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094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663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634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277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484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65817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1526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47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77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963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6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8931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sem.mx/blog_asem/herramientas-tecnologicas-para-emprendedores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danielsilias/Gestion_GPTI.git" TargetMode="External"/><Relationship Id="rId5" Type="http://schemas.openxmlformats.org/officeDocument/2006/relationships/hyperlink" Target="https://expertiaconsultora.com/blog/2025/08/14/herramientas-tecnologicas-procesos-administrativos/" TargetMode="External"/><Relationship Id="rId4" Type="http://schemas.openxmlformats.org/officeDocument/2006/relationships/hyperlink" Target="https://www.zendesk.com.mx/blog/apps-and-integrations/herramientas-tecnologicas-gestion-comercial-client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DA401305-7095-4540-B588-2D8678A3A696}"/>
              </a:ext>
            </a:extLst>
          </p:cNvPr>
          <p:cNvGrpSpPr/>
          <p:nvPr/>
        </p:nvGrpSpPr>
        <p:grpSpPr>
          <a:xfrm>
            <a:off x="1384766" y="1146649"/>
            <a:ext cx="3105785" cy="970280"/>
            <a:chOff x="0" y="0"/>
            <a:chExt cx="3106079" cy="970560"/>
          </a:xfrm>
        </p:grpSpPr>
        <p:pic>
          <p:nvPicPr>
            <p:cNvPr id="3" name="4 2">
              <a:extLst>
                <a:ext uri="{FF2B5EF4-FFF2-40B4-BE49-F238E27FC236}">
                  <a16:creationId xmlns:a16="http://schemas.microsoft.com/office/drawing/2014/main" id="{91487D79-EBEA-4A29-8D16-D8743915FF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  <a:alphaModFix/>
            </a:blip>
            <a:srcRect/>
            <a:stretch>
              <a:fillRect/>
            </a:stretch>
          </p:blipFill>
          <p:spPr>
            <a:xfrm>
              <a:off x="926999" y="0"/>
              <a:ext cx="2179080" cy="623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3 2">
              <a:extLst>
                <a:ext uri="{FF2B5EF4-FFF2-40B4-BE49-F238E27FC236}">
                  <a16:creationId xmlns:a16="http://schemas.microsoft.com/office/drawing/2014/main" id="{84099915-3E5E-4387-8668-CDD03BCF2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/>
              <a:alphaModFix/>
            </a:blip>
            <a:srcRect/>
            <a:stretch>
              <a:fillRect/>
            </a:stretch>
          </p:blipFill>
          <p:spPr>
            <a:xfrm flipH="1">
              <a:off x="0" y="925200"/>
              <a:ext cx="170280" cy="453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" name="Imagen 42">
            <a:extLst>
              <a:ext uri="{FF2B5EF4-FFF2-40B4-BE49-F238E27FC236}">
                <a16:creationId xmlns:a16="http://schemas.microsoft.com/office/drawing/2014/main" id="{A738EB0C-B3AB-4411-A108-C053FEA87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4608" y="898811"/>
            <a:ext cx="1366838" cy="87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41">
            <a:extLst>
              <a:ext uri="{FF2B5EF4-FFF2-40B4-BE49-F238E27FC236}">
                <a16:creationId xmlns:a16="http://schemas.microsoft.com/office/drawing/2014/main" id="{628492F6-FF12-4734-A40C-8DE1F1C9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350" y="960081"/>
            <a:ext cx="1765300" cy="85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FC0D90BC-681F-4858-B875-ADAE43590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2281" y="1867488"/>
            <a:ext cx="6871626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INSTITUTO TECNOLÓGICO DE FRONTERA COMALAPA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Ingeniería sistemas computacionales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Semestre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 7°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Actividad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Reporte de Practica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Alumno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Daniel osvaldo silias cárdenas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Docente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Francisco Javier Mingo Velazquez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No. Control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231260058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26/09/2026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131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60A40DF-CD15-4867-AE16-EC2317FFAC0F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87E9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7E9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45F1F63-35EC-4720-B8F3-5E1B1976C398}"/>
              </a:ext>
            </a:extLst>
          </p:cNvPr>
          <p:cNvSpPr>
            <a:spLocks noGrp="1"/>
          </p:cNvSpPr>
          <p:nvPr/>
        </p:nvSpPr>
        <p:spPr>
          <a:xfrm>
            <a:off x="609600" y="1285875"/>
            <a:ext cx="10953750" cy="426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100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100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La gestión de proyectos de TI requiere organizar las tareas y mantener información clara sobre el avance del trabajo.</a:t>
            </a:r>
          </a:p>
          <a:p>
            <a:pPr algn="just"/>
            <a:endParaRPr sz="2100" b="0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  <a:p>
            <a:pPr algn="just">
              <a:defRPr sz="2100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100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Esta práctica aborda la planificación con ProjectLibre, la gestión de requisitos con Jira y el seguimiento visual mediante Trello.</a:t>
            </a:r>
          </a:p>
          <a:p>
            <a:pPr algn="just"/>
            <a:endParaRPr sz="2100" b="0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  <a:p>
            <a:pPr algn="just">
              <a:defRPr sz="2100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100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Los casos de Corona, Multired y Banco Bansiso permiten relacionar estas herramientas con procesos de simulación distintos.</a:t>
            </a:r>
          </a:p>
          <a:p>
            <a:pPr algn="just"/>
            <a:endParaRPr sz="2100" b="0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  <a:p>
            <a:pPr algn="just">
              <a:defRPr sz="2100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100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El reporte integra cronogramas, responsabilidades y solicitudes de cambio para explicar cómo se controla un proyecto.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25423C4-1578-4B37-9D0D-574CE1B28FEC}"/>
              </a:ext>
            </a:extLst>
          </p:cNvPr>
          <p:cNvSpPr txBox="1"/>
          <p:nvPr/>
        </p:nvSpPr>
        <p:spPr>
          <a:xfrm>
            <a:off x="1489435" y="456111"/>
            <a:ext cx="4078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Arial Black" panose="020B0A04020102020204" pitchFamily="34" charset="0"/>
              </a:rPr>
              <a:t>INTRODUCCION</a:t>
            </a:r>
          </a:p>
        </p:txBody>
      </p:sp>
    </p:spTree>
    <p:extLst>
      <p:ext uri="{BB962C8B-B14F-4D97-AF65-F5344CB8AC3E}">
        <p14:creationId xmlns:p14="http://schemas.microsoft.com/office/powerpoint/2010/main" val="817311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E325AA0-8068-45B8-87C8-C3471DE7C0B1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87E9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7E9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AB65E4E-4EC4-4F58-9DAC-33F38ACAEB9C}"/>
              </a:ext>
            </a:extLst>
          </p:cNvPr>
          <p:cNvSpPr>
            <a:spLocks noGrp="1"/>
          </p:cNvSpPr>
          <p:nvPr/>
        </p:nvSpPr>
        <p:spPr>
          <a:xfrm>
            <a:off x="609600" y="1285875"/>
            <a:ext cx="10953750" cy="426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100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100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Una planificación clara ayuda a reconocer dependencias y detectar retrasos antes de que afecten la entrega.</a:t>
            </a:r>
          </a:p>
          <a:p>
            <a:pPr algn="just"/>
            <a:endParaRPr sz="2100" b="0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  <a:p>
            <a:pPr algn="just">
              <a:defRPr sz="2100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100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El uso de herramientas tecnológicas facilita consultar las actividades, conocer quién las atiende y revisar su estado.</a:t>
            </a:r>
          </a:p>
          <a:p>
            <a:pPr algn="just"/>
            <a:endParaRPr sz="2100" b="0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  <a:p>
            <a:pPr algn="just">
              <a:defRPr sz="2100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100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La práctica vincula los contenidos de la unidad con ejemplos de trabajo: un cronograma, un backlog y un tablero de tareas.</a:t>
            </a:r>
          </a:p>
          <a:p>
            <a:pPr algn="just"/>
            <a:endParaRPr sz="2100" b="0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  <a:p>
            <a:pPr algn="just">
              <a:defRPr sz="2100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100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Documentar los cambios permite evaluar sus consecuencias y conservar un registro de las decisiones del proyecto.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E2EAD86-4B10-4831-BC15-1A914CA98FCD}"/>
              </a:ext>
            </a:extLst>
          </p:cNvPr>
          <p:cNvSpPr txBox="1"/>
          <p:nvPr/>
        </p:nvSpPr>
        <p:spPr>
          <a:xfrm>
            <a:off x="1272619" y="584284"/>
            <a:ext cx="24509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 Black" panose="020B0A04020102020204" pitchFamily="34" charset="0"/>
              </a:rPr>
              <a:t>JUSTIFICACION</a:t>
            </a:r>
          </a:p>
        </p:txBody>
      </p:sp>
    </p:spTree>
    <p:extLst>
      <p:ext uri="{BB962C8B-B14F-4D97-AF65-F5344CB8AC3E}">
        <p14:creationId xmlns:p14="http://schemas.microsoft.com/office/powerpoint/2010/main" val="1051475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E6DDC82-AEB1-41CD-9F8F-6CBB84BFA9F6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87E9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7E9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6082DE0-2DD4-4F63-AA9E-8F457606A339}"/>
              </a:ext>
            </a:extLst>
          </p:cNvPr>
          <p:cNvSpPr>
            <a:spLocks noGrp="1"/>
          </p:cNvSpPr>
          <p:nvPr/>
        </p:nvSpPr>
        <p:spPr>
          <a:xfrm>
            <a:off x="609600" y="1285875"/>
            <a:ext cx="10953750" cy="428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Objetivo general: aplicar herramientas de planificación y seguimiento en proyectos académicos de TI.</a:t>
            </a:r>
          </a:p>
          <a:p>
            <a:pPr algn="just"/>
            <a:endParaRPr sz="2025" b="0" dirty="0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 algn="just"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Construir cronogramas con duraciones, dependencias y responsables.</a:t>
            </a:r>
          </a:p>
          <a:p>
            <a:pPr algn="just"/>
            <a:endParaRPr sz="2025" b="0" dirty="0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 algn="just"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Organizar requisitos y prioridades mediante historias de usuario.</a:t>
            </a:r>
          </a:p>
          <a:p>
            <a:pPr algn="just"/>
            <a:endParaRPr sz="2025" b="0" dirty="0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 algn="just"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Representar el avance de las actividades en un tablero visual.</a:t>
            </a:r>
          </a:p>
          <a:p>
            <a:pPr algn="just"/>
            <a:endParaRPr sz="2025" b="0" dirty="0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 algn="just"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Evaluar una modificación del cronograma y comparar la utilidad de cada herramienta.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0E95267-F9BA-401E-8348-3D92F63A790D}"/>
              </a:ext>
            </a:extLst>
          </p:cNvPr>
          <p:cNvSpPr txBox="1"/>
          <p:nvPr/>
        </p:nvSpPr>
        <p:spPr>
          <a:xfrm>
            <a:off x="1734532" y="320511"/>
            <a:ext cx="35821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OBJETIVOS DE LA PRACTICA</a:t>
            </a:r>
          </a:p>
        </p:txBody>
      </p:sp>
    </p:spTree>
    <p:extLst>
      <p:ext uri="{BB962C8B-B14F-4D97-AF65-F5344CB8AC3E}">
        <p14:creationId xmlns:p14="http://schemas.microsoft.com/office/powerpoint/2010/main" val="804543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1BB5194-7513-4F01-B9B5-8BD2D937DC44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87E9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7E9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graphicFrame>
        <p:nvGraphicFramePr>
          <p:cNvPr id="7" name="Tabla 6"/>
          <p:cNvGraphicFramePr/>
          <p:nvPr>
            <p:extLst>
              <p:ext uri="{D42A27DB-BD31-4B8C-83A1-F6EECF244321}">
                <p14:modId xmlns:p14="http://schemas.microsoft.com/office/powerpoint/2010/main" val="298799764"/>
              </p:ext>
            </p:extLst>
          </p:nvPr>
        </p:nvGraphicFramePr>
        <p:xfrm>
          <a:off x="609600" y="1428750"/>
          <a:ext cx="10972800" cy="3623722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9097">
                <a:tc>
                  <a:txBody>
                    <a:bodyPr/>
                    <a:lstStyle/>
                    <a:p>
                      <a:r>
                        <a:rPr sz="1875" b="1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Proyecto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Proceso representado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Propósito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Corona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Producción, inventario, distribución y ventas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Representar la operación y analizar su comportamiento.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Multired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Transacciones interbancarias en cajeros compartidos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Modelar las transacciones interbancarias con BPMN.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Banco Bansiso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Llegadas, filas y atención en ventanillas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Evaluar la atención al cliente en diferentes escenarios.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1D63474D-B08F-4C9B-98CB-56716525BF8A}"/>
              </a:ext>
            </a:extLst>
          </p:cNvPr>
          <p:cNvSpPr txBox="1"/>
          <p:nvPr/>
        </p:nvSpPr>
        <p:spPr>
          <a:xfrm>
            <a:off x="1649691" y="339365"/>
            <a:ext cx="29317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</a:rPr>
              <a:t>PROYECTOS DE REFERENCIAS</a:t>
            </a:r>
          </a:p>
        </p:txBody>
      </p:sp>
    </p:spTree>
    <p:extLst>
      <p:ext uri="{BB962C8B-B14F-4D97-AF65-F5344CB8AC3E}">
        <p14:creationId xmlns:p14="http://schemas.microsoft.com/office/powerpoint/2010/main" val="667856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F68A45C-6238-42EE-873C-6F3C0C335C21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87E9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7E9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E91A354-4CF3-4F23-A3C6-7AF9CA2188E6}"/>
              </a:ext>
            </a:extLst>
          </p:cNvPr>
          <p:cNvSpPr>
            <a:spLocks noGrp="1"/>
          </p:cNvSpPr>
          <p:nvPr/>
        </p:nvSpPr>
        <p:spPr>
          <a:xfrm>
            <a:off x="609600" y="1285875"/>
            <a:ext cx="10953750" cy="438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Microsoft Project se utiliza para organizar tareas, fechas y recursos dentro de un plan de trabajo.</a:t>
            </a:r>
          </a:p>
          <a:p>
            <a:pPr algn="just"/>
            <a:endParaRPr sz="2025" b="0" dirty="0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 algn="just"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El diagrama de Gantt muestra la secuencia de actividades y las relaciones entre ellas.</a:t>
            </a:r>
          </a:p>
          <a:p>
            <a:pPr algn="just"/>
            <a:endParaRPr sz="2025" b="0" dirty="0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 algn="just"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Las dependencias ayudan a identificar qué tareas pueden modificar la fecha de entrega.</a:t>
            </a:r>
          </a:p>
          <a:p>
            <a:pPr algn="just"/>
            <a:endParaRPr sz="2025" b="0" dirty="0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 algn="just"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Los recursos, costos y líneas base apoyan la comparación entre el plan inicial y el avance registrado.</a:t>
            </a:r>
          </a:p>
          <a:p>
            <a:pPr algn="just"/>
            <a:endParaRPr sz="2025" b="0" dirty="0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 algn="just"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ProjectLibre es la herramienta utilizada en el ejemplo para elaborar los cronogramas.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44BEE4C-47B0-419D-9B4D-1EC18A66F74F}"/>
              </a:ext>
            </a:extLst>
          </p:cNvPr>
          <p:cNvSpPr txBox="1"/>
          <p:nvPr/>
        </p:nvSpPr>
        <p:spPr>
          <a:xfrm>
            <a:off x="1828800" y="226243"/>
            <a:ext cx="33276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bg1"/>
                </a:solidFill>
                <a:latin typeface="Arial Black" panose="020B0A04020102020204" pitchFamily="34" charset="0"/>
                <a:ea typeface="Aptos"/>
                <a:cs typeface="Aptos"/>
              </a:rPr>
              <a:t>Microsoft Project y ProjectLibre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07849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293E399-FA88-4A07-8429-2DB7886F6531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87E9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7E9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BD608E0-419D-4B42-94CF-821BA687EBD0}"/>
              </a:ext>
            </a:extLst>
          </p:cNvPr>
          <p:cNvSpPr>
            <a:spLocks noGrp="1"/>
          </p:cNvSpPr>
          <p:nvPr/>
        </p:nvSpPr>
        <p:spPr>
          <a:xfrm>
            <a:off x="619125" y="1143000"/>
            <a:ext cx="10953750" cy="2286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87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El ejemplo organiza siete actividades del proceso operativo y comercial con dependencias secuenciales.</a:t>
            </a:r>
          </a:p>
          <a:p>
            <a:pPr algn="just"/>
            <a:endParaRPr sz="1875" b="0" dirty="0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 algn="just">
              <a:defRPr sz="187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Los roles incluyen análisis, modelado, programación y coordinación del proyecto.</a:t>
            </a:r>
          </a:p>
          <a:p>
            <a:pPr algn="just"/>
            <a:endParaRPr sz="1875" b="0" dirty="0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 algn="just">
              <a:defRPr sz="187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El cambio propuesto amplía la simulación de producción de 6 a 8 días para revisar su efecto en las tareas posteriores.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FA3735F-DF37-401C-843C-B5594C8537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637" y="2938806"/>
            <a:ext cx="7883754" cy="3412548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D259EA59-427A-4F93-A9BD-044E234B675D}"/>
              </a:ext>
            </a:extLst>
          </p:cNvPr>
          <p:cNvSpPr/>
          <p:nvPr/>
        </p:nvSpPr>
        <p:spPr>
          <a:xfrm>
            <a:off x="2742096" y="318763"/>
            <a:ext cx="4467570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s-MX" b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ProjectLibre: proyecto Corona</a:t>
            </a:r>
          </a:p>
        </p:txBody>
      </p:sp>
    </p:spTree>
    <p:extLst>
      <p:ext uri="{BB962C8B-B14F-4D97-AF65-F5344CB8AC3E}">
        <p14:creationId xmlns:p14="http://schemas.microsoft.com/office/powerpoint/2010/main" val="1649614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CDA01F3-3561-486E-859A-DBDE2D7EB0A8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87E9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7E9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7C39CF6-937C-433A-952C-329FC93A06F7}"/>
              </a:ext>
            </a:extLst>
          </p:cNvPr>
          <p:cNvSpPr>
            <a:spLocks noGrp="1"/>
          </p:cNvSpPr>
          <p:nvPr/>
        </p:nvSpPr>
        <p:spPr>
          <a:xfrm>
            <a:off x="609600" y="1285875"/>
            <a:ext cx="10953750" cy="2286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87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El cronograma relaciona la documentación del proceso con el diseño del modelo BPMN.</a:t>
            </a:r>
          </a:p>
          <a:p>
            <a:pPr algn="just"/>
            <a:endParaRPr sz="1875" b="0" dirty="0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 algn="just">
              <a:defRPr sz="187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Las dependencias vinculan el análisis, el modelado y la preparación de los escenarios de simulación.</a:t>
            </a:r>
          </a:p>
          <a:p>
            <a:pPr algn="just"/>
            <a:endParaRPr sz="1875" b="0" dirty="0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 algn="just">
              <a:defRPr sz="187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El ejemplo contempla herramientas como Bizagi, Camunda y Bonita. Ajusta los recursos a los que utilizaste.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6C7F109-3772-4A55-8D83-B3273CC56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422" y="3239022"/>
            <a:ext cx="8155685" cy="2746999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8D643CF-F135-42FA-A16B-4A14E85EC614}"/>
              </a:ext>
            </a:extLst>
          </p:cNvPr>
          <p:cNvSpPr/>
          <p:nvPr/>
        </p:nvSpPr>
        <p:spPr>
          <a:xfrm>
            <a:off x="3135500" y="186788"/>
            <a:ext cx="469551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s-MX" b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ProjectLibre: proyecto Multired</a:t>
            </a:r>
          </a:p>
        </p:txBody>
      </p:sp>
    </p:spTree>
    <p:extLst>
      <p:ext uri="{BB962C8B-B14F-4D97-AF65-F5344CB8AC3E}">
        <p14:creationId xmlns:p14="http://schemas.microsoft.com/office/powerpoint/2010/main" val="193600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671784B-5F34-4D82-8E6C-41B7C277F3FC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87E9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7E9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BFBF37F-B3DD-49DE-BDD6-D47B6752CF87}"/>
              </a:ext>
            </a:extLst>
          </p:cNvPr>
          <p:cNvSpPr>
            <a:spLocks noGrp="1"/>
          </p:cNvSpPr>
          <p:nvPr/>
        </p:nvSpPr>
        <p:spPr>
          <a:xfrm>
            <a:off x="609600" y="1285875"/>
            <a:ext cx="10953750" cy="2286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87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El plan contempla siete etapas: análisis, llegadas, filas, ventanillas, simulación, pruebas y resultados.</a:t>
            </a:r>
          </a:p>
          <a:p>
            <a:pPr algn="just"/>
            <a:endParaRPr sz="1875" b="0" dirty="0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 algn="just">
              <a:defRPr sz="187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Las dependencias indican el orden previsto para construir y evaluar el modelo de atención.</a:t>
            </a:r>
          </a:p>
          <a:p>
            <a:pPr algn="just"/>
            <a:endParaRPr sz="1875" b="0" dirty="0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 algn="just">
              <a:defRPr sz="187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La asignación de responsables y equipo de cómputo permite relacionar las tareas con los recursos disponibles.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ED33793-6562-436C-B1EB-89E57308A3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581" y="3429000"/>
            <a:ext cx="7018628" cy="2522439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F4428A9-394C-4244-95ED-EEB39E9580A5}"/>
              </a:ext>
            </a:extLst>
          </p:cNvPr>
          <p:cNvSpPr/>
          <p:nvPr/>
        </p:nvSpPr>
        <p:spPr>
          <a:xfrm>
            <a:off x="3736318" y="196215"/>
            <a:ext cx="4143891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s-MX" b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ProjectLibre: Banco Bansiso</a:t>
            </a:r>
          </a:p>
        </p:txBody>
      </p:sp>
    </p:spTree>
    <p:extLst>
      <p:ext uri="{BB962C8B-B14F-4D97-AF65-F5344CB8AC3E}">
        <p14:creationId xmlns:p14="http://schemas.microsoft.com/office/powerpoint/2010/main" val="403164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A80D375-6690-4B5C-9221-0D444C4435CC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87E9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7E9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graphicFrame>
        <p:nvGraphicFramePr>
          <p:cNvPr id="7" name="Tabla 6"/>
          <p:cNvGraphicFramePr/>
          <p:nvPr>
            <p:extLst>
              <p:ext uri="{D42A27DB-BD31-4B8C-83A1-F6EECF244321}">
                <p14:modId xmlns:p14="http://schemas.microsoft.com/office/powerpoint/2010/main" val="400105878"/>
              </p:ext>
            </p:extLst>
          </p:nvPr>
        </p:nvGraphicFramePr>
        <p:xfrm>
          <a:off x="609600" y="1352550"/>
          <a:ext cx="10972800" cy="4333878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7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1542">
                <a:tc>
                  <a:txBody>
                    <a:bodyPr/>
                    <a:lstStyle/>
                    <a:p>
                      <a:r>
                        <a:rPr sz="1725" b="1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Elemento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Registro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54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Proyecto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Simulación del proceso operativo y comercial de Corona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54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Actividad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Simulación del proceso de producción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54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Duración anterior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6 días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54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Nueva duración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8 días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54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Motivo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Mayor tiempo para ajustar y revisar el modelo.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154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Impacto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Posible retraso de tareas dependientes y de la entrega.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154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Estado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Pendiente de aprobación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154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Herramienta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ProjectLibre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4599769A-9855-4121-8FCA-46F04EE463C9}"/>
              </a:ext>
            </a:extLst>
          </p:cNvPr>
          <p:cNvSpPr/>
          <p:nvPr/>
        </p:nvSpPr>
        <p:spPr>
          <a:xfrm>
            <a:off x="3170563" y="365212"/>
            <a:ext cx="498360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s-MX" b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Solicitud de cambio: CR-2026-001</a:t>
            </a:r>
          </a:p>
        </p:txBody>
      </p:sp>
    </p:spTree>
    <p:extLst>
      <p:ext uri="{BB962C8B-B14F-4D97-AF65-F5344CB8AC3E}">
        <p14:creationId xmlns:p14="http://schemas.microsoft.com/office/powerpoint/2010/main" val="1606592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456A211-D1C2-4E88-9F47-88222795812F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87E9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7E9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27B3A33-1E0E-441A-AEC4-4E7D54A86767}"/>
              </a:ext>
            </a:extLst>
          </p:cNvPr>
          <p:cNvSpPr>
            <a:spLocks noGrp="1"/>
          </p:cNvSpPr>
          <p:nvPr/>
        </p:nvSpPr>
        <p:spPr>
          <a:xfrm>
            <a:off x="609600" y="1285875"/>
            <a:ext cx="10953750" cy="2590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187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El backlog reúne los requisitos del proyecto y permite ordenar el trabajo según su prioridad.</a:t>
            </a:r>
          </a:p>
          <a:p>
            <a:pPr algn="just"/>
            <a:endParaRPr sz="1875" b="0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  <a:p>
            <a:pPr algn="just">
              <a:defRPr sz="187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Las historias de usuario describen una necesidad y el valor que recibe quien utiliza el sistema.</a:t>
            </a:r>
          </a:p>
          <a:p>
            <a:pPr algn="just"/>
            <a:endParaRPr sz="1875" b="0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  <a:p>
            <a:pPr algn="just">
              <a:defRPr sz="187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El ejemplo incluye diez elementos de trabajo por proyecto, con prioridad y estimación en puntos.</a:t>
            </a:r>
          </a:p>
          <a:p>
            <a:pPr algn="just"/>
            <a:endParaRPr sz="1875" b="0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  <a:p>
            <a:pPr algn="just">
              <a:defRPr sz="187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En Multired, los requisitos abarcan acceso al cajero, autorización bancaria, manejo de errores y conciliación.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AC35E51-944B-4D93-BF17-F493C992A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062" y="3653550"/>
            <a:ext cx="2438611" cy="27663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368F2821-9AD5-44F2-9B17-844DE7AF94C9}"/>
              </a:ext>
            </a:extLst>
          </p:cNvPr>
          <p:cNvSpPr/>
          <p:nvPr/>
        </p:nvSpPr>
        <p:spPr>
          <a:xfrm>
            <a:off x="3068693" y="233922"/>
            <a:ext cx="603556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s-MX" b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Jira: requisitos y organización del trabajo</a:t>
            </a:r>
          </a:p>
        </p:txBody>
      </p:sp>
    </p:spTree>
    <p:extLst>
      <p:ext uri="{BB962C8B-B14F-4D97-AF65-F5344CB8AC3E}">
        <p14:creationId xmlns:p14="http://schemas.microsoft.com/office/powerpoint/2010/main" val="874536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D914936-01F8-409A-8D31-2B13FABC3834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87E9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7E9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graphicFrame>
        <p:nvGraphicFramePr>
          <p:cNvPr id="8" name="Tabla 7"/>
          <p:cNvGraphicFramePr/>
          <p:nvPr>
            <p:extLst>
              <p:ext uri="{D42A27DB-BD31-4B8C-83A1-F6EECF244321}">
                <p14:modId xmlns:p14="http://schemas.microsoft.com/office/powerpoint/2010/main" val="2318640164"/>
              </p:ext>
            </p:extLst>
          </p:nvPr>
        </p:nvGraphicFramePr>
        <p:xfrm>
          <a:off x="457200" y="1266825"/>
          <a:ext cx="7239000" cy="4714875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Clave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Trabajo requerido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Prioridad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Puntos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CORONA-1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Analizar producción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Alta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CORONA-2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Modelar elaboración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Alta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CORONA-3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Simular producción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Alta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8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CORONA-4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Inventario y almacenamiento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Media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CORONA-5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Simular distribución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Media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CORONA-6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Representar ventas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Media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CORONA-7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Integrar etapas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Alta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8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CORONA-8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Realizar pruebas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Alta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CORONA-9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Analizar resultados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Media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CORONA-10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Documentar resultados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Media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E77484CF-AAAD-4213-9CE9-A118E1961381}"/>
              </a:ext>
            </a:extLst>
          </p:cNvPr>
          <p:cNvSpPr>
            <a:spLocks noGrp="1"/>
          </p:cNvSpPr>
          <p:nvPr/>
        </p:nvSpPr>
        <p:spPr>
          <a:xfrm>
            <a:off x="7981950" y="1266825"/>
            <a:ext cx="3733800" cy="3857625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>
            <a:solidFill>
              <a:srgbClr val="9CB3BF"/>
            </a:solidFill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07B89"/>
                </a:solidFill>
                <a:latin typeface="Aptos"/>
                <a:ea typeface="Aptos"/>
                <a:cs typeface="Aptos"/>
              </a:defRPr>
            </a:pPr>
            <a:endParaRPr sz="1650" b="0" dirty="0">
              <a:solidFill>
                <a:srgbClr val="607B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4F19449-9AA0-46C1-BDC1-F95903C3420B}"/>
              </a:ext>
            </a:extLst>
          </p:cNvPr>
          <p:cNvSpPr/>
          <p:nvPr/>
        </p:nvSpPr>
        <p:spPr>
          <a:xfrm>
            <a:off x="4007117" y="368469"/>
            <a:ext cx="3499035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s-MX" b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Jira: backlog de Corona</a:t>
            </a:r>
          </a:p>
        </p:txBody>
      </p:sp>
    </p:spTree>
    <p:extLst>
      <p:ext uri="{BB962C8B-B14F-4D97-AF65-F5344CB8AC3E}">
        <p14:creationId xmlns:p14="http://schemas.microsoft.com/office/powerpoint/2010/main" val="1592796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B7464F5-7462-427D-9F93-BBCF9B5464D2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87E9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7E9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graphicFrame>
        <p:nvGraphicFramePr>
          <p:cNvPr id="8" name="Tabla 7"/>
          <p:cNvGraphicFramePr/>
          <p:nvPr>
            <p:extLst>
              <p:ext uri="{D42A27DB-BD31-4B8C-83A1-F6EECF244321}">
                <p14:modId xmlns:p14="http://schemas.microsoft.com/office/powerpoint/2010/main" val="338921926"/>
              </p:ext>
            </p:extLst>
          </p:nvPr>
        </p:nvGraphicFramePr>
        <p:xfrm>
          <a:off x="457200" y="1266825"/>
          <a:ext cx="7239000" cy="4714875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Clave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Trabajo requerido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Prioridad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Puntos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MULTIRED-1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Validar tarjeta y PIN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Alta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MULTIRED-2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Seleccionar operación ATM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Alta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MULTIRED-3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Validar importe y límites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Alta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MULTIRED-4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Solicitud al banco emisor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Alta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8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MULTIRED-5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Validar autorización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Alta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8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MULTIRED-6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Reservar y debitar fondos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Alta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MULTIRED-7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Timeout y errores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Alta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MULTIRED-8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Intentos y bloqueo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Media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MULTIRED-9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Comisión y comprobante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Media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MULTIRED-10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Conciliación y reporte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Media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129469C7-01BB-4C36-8A28-0F64999136EA}"/>
              </a:ext>
            </a:extLst>
          </p:cNvPr>
          <p:cNvSpPr>
            <a:spLocks noGrp="1"/>
          </p:cNvSpPr>
          <p:nvPr/>
        </p:nvSpPr>
        <p:spPr>
          <a:xfrm>
            <a:off x="8001000" y="1266825"/>
            <a:ext cx="3733800" cy="3857625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>
            <a:solidFill>
              <a:srgbClr val="9CB3BF"/>
            </a:solidFill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07B89"/>
                </a:solidFill>
                <a:latin typeface="Aptos"/>
                <a:ea typeface="Aptos"/>
                <a:cs typeface="Aptos"/>
              </a:defRPr>
            </a:pPr>
            <a:endParaRPr sz="1650" b="0" dirty="0">
              <a:solidFill>
                <a:srgbClr val="607B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FA49B8B-8DAE-475C-ADDF-2F326C57D527}"/>
              </a:ext>
            </a:extLst>
          </p:cNvPr>
          <p:cNvSpPr/>
          <p:nvPr/>
        </p:nvSpPr>
        <p:spPr>
          <a:xfrm>
            <a:off x="3969218" y="368469"/>
            <a:ext cx="372698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s-MX" b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Jira: backlog de Multired</a:t>
            </a:r>
          </a:p>
        </p:txBody>
      </p:sp>
    </p:spTree>
    <p:extLst>
      <p:ext uri="{BB962C8B-B14F-4D97-AF65-F5344CB8AC3E}">
        <p14:creationId xmlns:p14="http://schemas.microsoft.com/office/powerpoint/2010/main" val="2075717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64EA724-EBA1-4BB3-B68D-E95BC92A069A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87E9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7E9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graphicFrame>
        <p:nvGraphicFramePr>
          <p:cNvPr id="8" name="Tabla 7"/>
          <p:cNvGraphicFramePr/>
          <p:nvPr>
            <p:extLst>
              <p:ext uri="{D42A27DB-BD31-4B8C-83A1-F6EECF244321}">
                <p14:modId xmlns:p14="http://schemas.microsoft.com/office/powerpoint/2010/main" val="3551339155"/>
              </p:ext>
            </p:extLst>
          </p:nvPr>
        </p:nvGraphicFramePr>
        <p:xfrm>
          <a:off x="457200" y="1266825"/>
          <a:ext cx="7239000" cy="4714875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Clave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Trabajo requerido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Prioridad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Puntos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BANCO-1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Analizar atención al cliente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Alta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BANCO-2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Modelar llegada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Alta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BANCO-3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Modelar filas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Alta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BANCO-4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Modelar ventanillas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Alta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BANCO-5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Programar y simular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Alta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8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BANCO-6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Probar escenarios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Alta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BANCO-7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Analizar resultados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Media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BANCO-8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Comparar ventanillas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Media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BANCO-9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Documentar resultados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Media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BANCO-10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Preparar entrega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Media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AB59036D-9C0A-4F4F-8B16-B8199C973A65}"/>
              </a:ext>
            </a:extLst>
          </p:cNvPr>
          <p:cNvSpPr>
            <a:spLocks noGrp="1"/>
          </p:cNvSpPr>
          <p:nvPr/>
        </p:nvSpPr>
        <p:spPr>
          <a:xfrm>
            <a:off x="8001000" y="1266825"/>
            <a:ext cx="3733800" cy="3857625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>
            <a:solidFill>
              <a:srgbClr val="9CB3BF"/>
            </a:solidFill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07B89"/>
                </a:solidFill>
                <a:latin typeface="Aptos"/>
                <a:ea typeface="Aptos"/>
                <a:cs typeface="Aptos"/>
              </a:defRPr>
            </a:pPr>
            <a:endParaRPr sz="1650" b="0" dirty="0">
              <a:solidFill>
                <a:srgbClr val="607B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F3516C9-86B8-4D2C-A7F3-CF2D3199313E}"/>
              </a:ext>
            </a:extLst>
          </p:cNvPr>
          <p:cNvSpPr/>
          <p:nvPr/>
        </p:nvSpPr>
        <p:spPr>
          <a:xfrm>
            <a:off x="3476685" y="368469"/>
            <a:ext cx="4524315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s-MX" b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Jira: backlog de Banco Bansiso</a:t>
            </a:r>
          </a:p>
        </p:txBody>
      </p:sp>
    </p:spTree>
    <p:extLst>
      <p:ext uri="{BB962C8B-B14F-4D97-AF65-F5344CB8AC3E}">
        <p14:creationId xmlns:p14="http://schemas.microsoft.com/office/powerpoint/2010/main" val="1819917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AC9C2D9-C446-4252-83D4-3E5E494A4C37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87E9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7E91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pic>
        <p:nvPicPr>
          <p:cNvPr id="7" name="table">
            <a:extLst>
              <a:ext uri="{FF2B5EF4-FFF2-40B4-BE49-F238E27FC236}">
                <a16:creationId xmlns:a16="http://schemas.microsoft.com/office/drawing/2014/main" id="{9502CA5B-152E-4163-8436-D1E6A5100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62" y="969232"/>
            <a:ext cx="5514976" cy="5120640"/>
          </a:xfrm>
          <a:prstGeom prst="rect">
            <a:avLst/>
          </a:prstGeom>
          <a:solidFill>
            <a:srgbClr val="92D050"/>
          </a:solidFill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38BEC797-2F83-48B3-B8C9-D4A39BC65845}"/>
              </a:ext>
            </a:extLst>
          </p:cNvPr>
          <p:cNvSpPr/>
          <p:nvPr/>
        </p:nvSpPr>
        <p:spPr>
          <a:xfrm>
            <a:off x="4174988" y="213162"/>
            <a:ext cx="321985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s-MX" b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Trello: Banco Bansiso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4837CC-A292-4676-82AE-79288E9D7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922" y="677941"/>
            <a:ext cx="5448624" cy="550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147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41816" y="109728"/>
            <a:ext cx="458644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Trello: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concepto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aplicación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1097280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Trello utiliza un enfoque visual basado en tableros, listas y tarjetas.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Se utilizaron las listas: Por Hacer, En Proceso, En Revisión y Terminado.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Cada tarjeta representa una actividad concreta.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Las tarjetas incluyen responsable y fecha de vencimiento.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El movimiento entre listas permite visualizar rápidamente el estado del proyecto.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Se configuraron tableros para Corona, Multired y Banco Bansiso.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3241835-7861-4B00-B6D7-AB719A4A5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050" y="3585800"/>
            <a:ext cx="7291632" cy="26418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E1ABC19-72DB-449A-B47A-15E8366D0D5E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87E9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7E91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26FD42-D97F-4EAE-A6BE-653DCF916206}"/>
              </a:ext>
            </a:extLst>
          </p:cNvPr>
          <p:cNvSpPr>
            <a:spLocks noGrp="1"/>
          </p:cNvSpPr>
          <p:nvPr/>
        </p:nvSpPr>
        <p:spPr>
          <a:xfrm>
            <a:off x="609600" y="1285875"/>
            <a:ext cx="6191250" cy="407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1. Registrar la solicitud y explicar por qué se necesita el cambio.</a:t>
            </a:r>
          </a:p>
          <a:p>
            <a:pPr algn="just"/>
            <a:endParaRPr sz="2025" b="0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  <a:p>
            <a:pPr algn="just"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2. Analizar el efecto sobre el alcance, las fechas y los recursos.</a:t>
            </a:r>
          </a:p>
          <a:p>
            <a:pPr algn="just"/>
            <a:endParaRPr sz="2025" b="0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  <a:p>
            <a:pPr algn="just"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3. Documentar la decisión y actualizar el plan cuando corresponda.</a:t>
            </a:r>
          </a:p>
          <a:p>
            <a:pPr algn="just"/>
            <a:endParaRPr sz="2025" b="0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  <a:p>
            <a:pPr algn="just"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4. Comunicar los ajustes y verificar que el cambio cumpla su propósito.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B894828-8FED-4DA8-B830-2696EB0B5611}"/>
              </a:ext>
            </a:extLst>
          </p:cNvPr>
          <p:cNvSpPr>
            <a:spLocks noGrp="1"/>
          </p:cNvSpPr>
          <p:nvPr/>
        </p:nvSpPr>
        <p:spPr>
          <a:xfrm>
            <a:off x="7429500" y="1333500"/>
            <a:ext cx="4000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87E9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87E91"/>
                </a:solidFill>
                <a:latin typeface="Aptos"/>
                <a:ea typeface="Aptos"/>
                <a:cs typeface="Aptos"/>
              </a:rPr>
              <a:t>Seguimiento del avance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B65A349-9BEA-46D5-BC2D-95B533525111}"/>
              </a:ext>
            </a:extLst>
          </p:cNvPr>
          <p:cNvSpPr>
            <a:spLocks noGrp="1"/>
          </p:cNvSpPr>
          <p:nvPr/>
        </p:nvSpPr>
        <p:spPr>
          <a:xfrm>
            <a:off x="7429500" y="2047875"/>
            <a:ext cx="4000500" cy="2952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ProjectLibre: fechas y dependencias.</a:t>
            </a:r>
          </a:p>
          <a:p>
            <a:pPr algn="just"/>
            <a:endParaRPr sz="2025" b="0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  <a:p>
            <a:pPr algn="just"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Jira: backlog y estados del trabajo.</a:t>
            </a:r>
          </a:p>
          <a:p>
            <a:pPr algn="just"/>
            <a:endParaRPr sz="2025" b="0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  <a:p>
            <a:pPr algn="just"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Trello: tarjetas y flujo de actividades.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1FFED05-A2BF-454E-A482-1F3559D1AA63}"/>
              </a:ext>
            </a:extLst>
          </p:cNvPr>
          <p:cNvSpPr/>
          <p:nvPr/>
        </p:nvSpPr>
        <p:spPr>
          <a:xfrm>
            <a:off x="3484283" y="428595"/>
            <a:ext cx="49721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Arial Black" panose="020B0A04020102020204" pitchFamily="34" charset="0"/>
                <a:ea typeface="Aptos"/>
                <a:cs typeface="Aptos"/>
              </a:rPr>
              <a:t>Control de cambios y seguimiento</a:t>
            </a:r>
            <a:endParaRPr lang="es-MX" sz="2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873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248F3AD-E008-46C3-9F12-E80D10430013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87E9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7E9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graphicFrame>
        <p:nvGraphicFramePr>
          <p:cNvPr id="7" name="Tabla 6"/>
          <p:cNvGraphicFramePr/>
          <p:nvPr>
            <p:extLst>
              <p:ext uri="{D42A27DB-BD31-4B8C-83A1-F6EECF244321}">
                <p14:modId xmlns:p14="http://schemas.microsoft.com/office/powerpoint/2010/main" val="1093949630"/>
              </p:ext>
            </p:extLst>
          </p:nvPr>
        </p:nvGraphicFramePr>
        <p:xfrm>
          <a:off x="457200" y="1428750"/>
          <a:ext cx="11277600" cy="4190998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2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8714">
                <a:tc>
                  <a:txBody>
                    <a:bodyPr/>
                    <a:lstStyle/>
                    <a:p>
                      <a:r>
                        <a:rPr sz="1725" b="1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Característica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ProjectLibre / MS Project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Jira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Trello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Enfoque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Predictivo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Ágil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Kanban visual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Principal uso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Gantt y cronograma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Backlog y Sprint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Flujo de tareas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Dependencias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Sí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Según configuración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Limitadas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Recursos/costos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Sí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Orientado al trabajo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Básico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Historias de usuario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No principal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Sí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Sí, mediante tarjetas</a:t>
                      </a:r>
                    </a:p>
                  </a:txBody>
                  <a:tcPr>
                    <a:solidFill>
                      <a:srgbClr val="E9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Seguimiento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Gantt / línea base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Estados / métricas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chemeClr val="bg1"/>
                          </a:solidFill>
                          <a:latin typeface="Aptos"/>
                          <a:ea typeface="Aptos"/>
                          <a:cs typeface="Aptos"/>
                        </a:rPr>
                        <a:t>Tarjetas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756841AB-9DAB-47A3-955D-7199E395231C}"/>
              </a:ext>
            </a:extLst>
          </p:cNvPr>
          <p:cNvSpPr/>
          <p:nvPr/>
        </p:nvSpPr>
        <p:spPr>
          <a:xfrm>
            <a:off x="3906437" y="401405"/>
            <a:ext cx="452136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s-MX" b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Comparación de herramientas</a:t>
            </a:r>
          </a:p>
        </p:txBody>
      </p:sp>
    </p:spTree>
    <p:extLst>
      <p:ext uri="{BB962C8B-B14F-4D97-AF65-F5344CB8AC3E}">
        <p14:creationId xmlns:p14="http://schemas.microsoft.com/office/powerpoint/2010/main" val="1519759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79685CB-5604-4478-9839-EDEEB9AE360B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87E9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7E9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1EFC603-318D-4DCB-B4F7-B926DC1EFAF6}"/>
              </a:ext>
            </a:extLst>
          </p:cNvPr>
          <p:cNvSpPr>
            <a:spLocks noGrp="1"/>
          </p:cNvSpPr>
          <p:nvPr/>
        </p:nvSpPr>
        <p:spPr>
          <a:xfrm>
            <a:off x="609600" y="1285875"/>
            <a:ext cx="10953750" cy="452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just"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ProjectLibre permite entender la secuencia del trabajo y cómo una variación de duración afecta las tareas dependientes.</a:t>
            </a:r>
          </a:p>
          <a:p>
            <a:pPr algn="just"/>
            <a:endParaRPr sz="2025" b="0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  <a:p>
            <a:pPr algn="just"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Jira ayuda a relacionar los requisitos con unidades de trabajo que pueden priorizarse y revisarse.</a:t>
            </a:r>
          </a:p>
          <a:p>
            <a:pPr algn="just"/>
            <a:endParaRPr sz="2025" b="0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  <a:p>
            <a:pPr algn="just"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Trello facilita consultar el estado de las actividades y reconocer pendientes en el flujo de trabajo.</a:t>
            </a:r>
          </a:p>
          <a:p>
            <a:pPr algn="just"/>
            <a:endParaRPr sz="2025" b="0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  <a:p>
            <a:pPr algn="just"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El control de cambios exige evaluar las consecuencias de una modificación antes de actualizar la planificación.</a:t>
            </a:r>
          </a:p>
          <a:p>
            <a:pPr algn="just"/>
            <a:endParaRPr sz="2025" b="0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  <a:p>
            <a:pPr algn="just"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Las herramientas se complementan cuando el equipo mantiene sus registros actualizados.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D6EA304-DACE-485B-9D38-E9E324C93F3F}"/>
              </a:ext>
            </a:extLst>
          </p:cNvPr>
          <p:cNvSpPr/>
          <p:nvPr/>
        </p:nvSpPr>
        <p:spPr>
          <a:xfrm>
            <a:off x="4358407" y="539919"/>
            <a:ext cx="327198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s-MX" b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Análisis de la práctica</a:t>
            </a:r>
          </a:p>
        </p:txBody>
      </p:sp>
    </p:spTree>
    <p:extLst>
      <p:ext uri="{BB962C8B-B14F-4D97-AF65-F5344CB8AC3E}">
        <p14:creationId xmlns:p14="http://schemas.microsoft.com/office/powerpoint/2010/main" val="1725085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8E394E6-9898-429D-BDC0-13897B1FBDEF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87E9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7E91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C405383-3CEF-4619-ADEB-7348B1C55001}"/>
              </a:ext>
            </a:extLst>
          </p:cNvPr>
          <p:cNvSpPr>
            <a:spLocks noGrp="1"/>
          </p:cNvSpPr>
          <p:nvPr/>
        </p:nvSpPr>
        <p:spPr>
          <a:xfrm>
            <a:off x="948965" y="965031"/>
            <a:ext cx="10953750" cy="400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La gestión de proyectos mejora cuando las tareas y sus responsables forman parte de un plan claro y verificable.</a:t>
            </a:r>
          </a:p>
          <a:p>
            <a:endParaRPr sz="2025" b="0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El cronograma explica el orden del trabajo. El backlog permite priorizar requisitos y el tablero muestra el avance.</a:t>
            </a:r>
          </a:p>
          <a:p>
            <a:endParaRPr sz="2025" b="0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Registrar y evaluar los cambios ayuda a mantener la coherencia entre lo planeado y lo que se ejecuta.</a:t>
            </a:r>
          </a:p>
          <a:p>
            <a:endParaRPr sz="2025" b="0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sz="2025" b="0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La utilidad de cada herramienta depende de la información que se necesita controlar y de la actualización de sus registros.</a:t>
            </a:r>
            <a:endParaRPr lang="es-MX" sz="2025" b="0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  <a:p>
            <a:r>
              <a:rPr lang="es-MX" dirty="0">
                <a:solidFill>
                  <a:schemeClr val="bg1"/>
                </a:solidFill>
              </a:rPr>
              <a:t>Fuentes de Informacion</a:t>
            </a:r>
          </a:p>
          <a:p>
            <a:pPr lvl="0"/>
            <a:r>
              <a:rPr lang="es-MX" u="sng" dirty="0">
                <a:hlinkClick r:id="rId3"/>
              </a:rPr>
              <a:t>https://asem.mx/blog_asem/herramientas-tecnologicas-para-emprendedores/</a:t>
            </a:r>
            <a:endParaRPr lang="es-MX" dirty="0"/>
          </a:p>
          <a:p>
            <a:pPr lvl="0"/>
            <a:r>
              <a:rPr lang="es-MX" u="sng" dirty="0">
                <a:hlinkClick r:id="rId4"/>
              </a:rPr>
              <a:t>https://www.zendesk.com.mx/blog/apps-and-integrations/herramientas-tecnologicas-gestion-comercial-clientes/</a:t>
            </a:r>
            <a:endParaRPr lang="es-MX" dirty="0"/>
          </a:p>
          <a:p>
            <a:pPr lvl="0"/>
            <a:r>
              <a:rPr lang="es-MX" u="sng" dirty="0">
                <a:hlinkClick r:id="rId5"/>
              </a:rPr>
              <a:t>https://expertiaconsultora.com/blog/2025/08/14/herramientas-tecnologicas-procesos-administrativos/</a:t>
            </a:r>
            <a:endParaRPr lang="es-MX" dirty="0"/>
          </a:p>
          <a:p>
            <a:pPr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endParaRPr lang="es-MX" sz="2025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endParaRPr lang="es-MX" sz="2025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lang="es-MX" sz="2025" dirty="0">
                <a:solidFill>
                  <a:srgbClr val="283B50"/>
                </a:solidFill>
                <a:latin typeface="Aptos"/>
                <a:ea typeface="Aptos"/>
                <a:cs typeface="Aptos"/>
              </a:rPr>
              <a:t>Anexo enlace al repositorio</a:t>
            </a:r>
          </a:p>
          <a:p>
            <a:pPr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r>
              <a:rPr lang="es-MX" sz="2025" dirty="0">
                <a:solidFill>
                  <a:srgbClr val="283B50"/>
                </a:solidFill>
                <a:latin typeface="Aptos"/>
                <a:ea typeface="Aptos"/>
                <a:cs typeface="Aptos"/>
                <a:hlinkClick r:id="rId6"/>
              </a:rPr>
              <a:t>           https://github.com/danielsilias/Gestion_GPTI.git</a:t>
            </a:r>
            <a:endParaRPr lang="es-MX" sz="2025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83B50"/>
                </a:solidFill>
                <a:latin typeface="Aptos"/>
                <a:ea typeface="Aptos"/>
                <a:cs typeface="Aptos"/>
              </a:defRPr>
            </a:pPr>
            <a:endParaRPr sz="2025" b="0" dirty="0">
              <a:solidFill>
                <a:srgbClr val="283B5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BFD6C4E-3F8B-49AB-B3D6-200E5B6104AF}"/>
              </a:ext>
            </a:extLst>
          </p:cNvPr>
          <p:cNvSpPr/>
          <p:nvPr/>
        </p:nvSpPr>
        <p:spPr>
          <a:xfrm>
            <a:off x="4811108" y="457200"/>
            <a:ext cx="206178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s-MX" b="1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17826590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54</TotalTime>
  <Words>1345</Words>
  <Application>Microsoft Office PowerPoint</Application>
  <DocSecurity>0</DocSecurity>
  <PresentationFormat>Panorámica</PresentationFormat>
  <Paragraphs>338</Paragraphs>
  <Slides>20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8" baseType="lpstr">
      <vt:lpstr>宋体</vt:lpstr>
      <vt:lpstr>Aptos</vt:lpstr>
      <vt:lpstr>Arial</vt:lpstr>
      <vt:lpstr>Arial Black</vt:lpstr>
      <vt:lpstr>Noto Sans</vt:lpstr>
      <vt:lpstr>Trebuchet MS</vt:lpstr>
      <vt:lpstr>Tw Cen MT</vt:lpstr>
      <vt:lpstr>Circuito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Daniel Silias</cp:lastModifiedBy>
  <cp:revision>8</cp:revision>
  <dcterms:created xsi:type="dcterms:W3CDTF">2026-10-02T17:36:52Z</dcterms:created>
  <dcterms:modified xsi:type="dcterms:W3CDTF">2026-10-03T04:20:00Z</dcterms:modified>
</cp:coreProperties>
</file>