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8E78F76-E07B-42C8-87FA-AE260FA2BF3F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A2779B6-16E1-4239-9CDE-0539D31AA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EC8C170-FD42-44D1-AE8D-20014A710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ABCED3A6-B898-490A-8A57-D3E2E48837A9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18DCBA24-1C36-4CB1-B62B-1DC571AB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11ED50F-60D5-4C03-BD7D-AC0BD220C92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1E0AAF1-8145-4172-A177-E12B0D011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FE57508-6EED-422E-97D6-0590FDBCA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B2847FC-5AB1-43CC-B096-90CDD8A194B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FF2C68B-8A90-44B1-A8EB-FF0BA687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1FDC4C28-FDC3-4FF2-A7A2-9039577DF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33EF6B5-DD3D-4C53-A7BA-F493FEF2B7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C4B71EB-55F6-4467-9C20-22BE96B6D57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969D23B-E673-4D96-8ACC-AF654E01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817FAF0C-2354-477A-8E3F-CA051EC7A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sem.mx/blog_asem/herramientas-tecnologicas-para-emprendedore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xpertiaconsultora.com/blog/2025/08/14/herramientas-tecnologicas-procesos-administrativos/" TargetMode="External"/><Relationship Id="rId4" Type="http://schemas.openxmlformats.org/officeDocument/2006/relationships/hyperlink" Target="https://www.zendesk.com.mx/blog/apps-and-integrations/herramientas-tecnologicas-gestion-comercial-client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B0DE42A-5008-43A3-ABF4-A8068A960490}"/>
              </a:ext>
            </a:extLst>
          </p:cNvPr>
          <p:cNvGrpSpPr/>
          <p:nvPr/>
        </p:nvGrpSpPr>
        <p:grpSpPr>
          <a:xfrm>
            <a:off x="1136541" y="474078"/>
            <a:ext cx="3105785" cy="970280"/>
            <a:chOff x="0" y="0"/>
            <a:chExt cx="3106079" cy="970560"/>
          </a:xfrm>
        </p:grpSpPr>
        <p:pic>
          <p:nvPicPr>
            <p:cNvPr id="6" name="4 2">
              <a:extLst>
                <a:ext uri="{FF2B5EF4-FFF2-40B4-BE49-F238E27FC236}">
                  <a16:creationId xmlns:a16="http://schemas.microsoft.com/office/drawing/2014/main" id="{3C3E9DFF-8F9F-49B7-B0EC-EE44976E6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926999" y="0"/>
              <a:ext cx="2179080" cy="62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3 2">
              <a:extLst>
                <a:ext uri="{FF2B5EF4-FFF2-40B4-BE49-F238E27FC236}">
                  <a16:creationId xmlns:a16="http://schemas.microsoft.com/office/drawing/2014/main" id="{A71BF93D-512F-4593-8820-37355814E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 flipH="1">
              <a:off x="0" y="925200"/>
              <a:ext cx="170280" cy="453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9C84D8D-2046-400C-A9C6-4C5CE5D29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502" y="350159"/>
            <a:ext cx="1366838" cy="87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781D232-3918-4D7A-97B5-ABED0BBF4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764" y="238940"/>
            <a:ext cx="1765300" cy="85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FF102F88-6476-4D53-896B-C08F67294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175" y="1866625"/>
            <a:ext cx="687162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INSTITUTO TECNOLÓGICO DE FRONTERA COMALAPA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Ingeniería sistemas computacionales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Semestre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 7°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Actividad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Banco de Ejercicio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Alumno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Daniel osvaldo silias cárdenas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Docente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Francisco Javier Mingo Velazquez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No. Control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231260058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30/09/2026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E11FB5E-4DDB-4C5E-A51E-486ED459882A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6E440F-2734-4D87-A2B9-EEB1CDCC35A3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8F1C73-007E-4F4E-A2C8-3AA8C2EC430C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100488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La planificación y el seguimiento permiten convertir un proyecto en trabajo organizado.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F2B90A-53E1-4586-9A5B-38598C7C5978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477500" cy="2714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Este banco de ejercicios aplica las herramientas de la Unidad 5 a tres procesos de simulación: producción, transacciones interbancarias y atención al cliente.</a:t>
            </a:r>
          </a:p>
          <a:p>
            <a:endParaRPr sz="20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ProjectLibre organiza el calendario de actividades. Jira ayuda a priorizar los requisitos y Trello permite consultar el estado del trabajo.</a:t>
            </a:r>
          </a:p>
          <a:p>
            <a:endParaRPr sz="20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Los casos relacionan cada herramienta con una necesidad concreta del proyecto y con la evidencia que permite revisar su avance.</a:t>
            </a:r>
          </a:p>
        </p:txBody>
      </p:sp>
    </p:spTree>
    <p:extLst>
      <p:ext uri="{BB962C8B-B14F-4D97-AF65-F5344CB8AC3E}">
        <p14:creationId xmlns:p14="http://schemas.microsoft.com/office/powerpoint/2010/main" val="204117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898058E-3110-4E71-8DE3-3F75032813F0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762613-C5AF-4E69-90D5-FB4507526C7F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23B91D-082E-4346-B4E7-298C7A368B22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4775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Un proyecto necesita algo más que una lista de actividades. También requiere una secuencia de trabajo, responsables definidos y criterios para revisar el avance.</a:t>
            </a:r>
          </a:p>
          <a:p>
            <a:endParaRPr sz="23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3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Los ejercicios permiten practicar estas decisiones mediante cronogramas, historias de usuario y tableros visuales.</a:t>
            </a:r>
          </a:p>
          <a:p>
            <a:endParaRPr sz="23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3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El control de cambios completa la práctica: registrar una modificación y evaluar su impacto ayuda a mantener actualizado el plan.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839FD6D-6568-4D69-823A-1CD24671DDBB}"/>
              </a:ext>
            </a:extLst>
          </p:cNvPr>
          <p:cNvSpPr>
            <a:spLocks noGrp="1"/>
          </p:cNvSpPr>
          <p:nvPr/>
        </p:nvSpPr>
        <p:spPr>
          <a:xfrm>
            <a:off x="666750" y="5553075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Propósito de la 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A50B43-7E27-4CA6-A455-5210B76D159C}"/>
              </a:ext>
            </a:extLst>
          </p:cNvPr>
          <p:cNvSpPr>
            <a:spLocks noGrp="1"/>
          </p:cNvSpPr>
          <p:nvPr/>
        </p:nvSpPr>
        <p:spPr>
          <a:xfrm>
            <a:off x="4333875" y="5553075"/>
            <a:ext cx="695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Relacionar la planificación con el seguimiento y la toma de decisiones.</a:t>
            </a:r>
          </a:p>
        </p:txBody>
      </p:sp>
    </p:spTree>
    <p:extLst>
      <p:ext uri="{BB962C8B-B14F-4D97-AF65-F5344CB8AC3E}">
        <p14:creationId xmlns:p14="http://schemas.microsoft.com/office/powerpoint/2010/main" val="41300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A6C5056-685C-4793-B155-1F84EC9A5B10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Casos de aplicación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0DD2C3-95F9-4953-AC05-7B4C2F95D114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66750" y="1952625"/>
          <a:ext cx="10763250" cy="3238500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Proyecto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Proceso del modelo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Pregunta de análisis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Producción, inventario, distribución y ventas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¿Cómo se conectan las etapas de la operación?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Operaciones en cajeros de una red interbancaria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¿Cómo se autoriza y se registra una transacción?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Llegadas, filas y atención en ventanillas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¿Cómo influye la capacidad de atención en la espera?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B5A5F25-8CFD-44AC-86EE-CBE909D3D2C7}"/>
              </a:ext>
            </a:extLst>
          </p:cNvPr>
          <p:cNvSpPr>
            <a:spLocks noGrp="1"/>
          </p:cNvSpPr>
          <p:nvPr/>
        </p:nvSpPr>
        <p:spPr>
          <a:xfrm>
            <a:off x="666750" y="5562600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86B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86B64"/>
                </a:solidFill>
                <a:latin typeface="Aptos"/>
                <a:ea typeface="Aptos"/>
                <a:cs typeface="Aptos"/>
              </a:rPr>
              <a:t>En Multired, el modelado contempla Draw.io, Bizagi, Camunda y Bonita.</a:t>
            </a:r>
          </a:p>
          <a:p>
            <a:pPr>
              <a:defRPr sz="1875" b="0">
                <a:solidFill>
                  <a:srgbClr val="586B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86B64"/>
                </a:solidFill>
                <a:latin typeface="Aptos"/>
                <a:ea typeface="Aptos"/>
                <a:cs typeface="Aptos"/>
              </a:rPr>
              <a:t>Los tres casos sirven para organizar tareas, comparar escenarios y documentar resultados.</a:t>
            </a:r>
          </a:p>
        </p:txBody>
      </p:sp>
    </p:spTree>
    <p:extLst>
      <p:ext uri="{BB962C8B-B14F-4D97-AF65-F5344CB8AC3E}">
        <p14:creationId xmlns:p14="http://schemas.microsoft.com/office/powerpoint/2010/main" val="150077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0C62C60-CE4D-4E90-AAC4-903CF1F3773A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ProjectLibre: planificación del tiempo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A671EA-CCDE-4119-9E09-B723ED47E7F3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20062A-1260-47A6-AFB3-2828CE263526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628650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El cronograma define la duración de las tareas y las relaciones que determinan su orden. El Gantt permite revisar esa secuencia.</a:t>
            </a:r>
          </a:p>
          <a:p>
            <a:endParaRPr sz="20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Corona y Banco Bansiso contemplan siete actividades. Multired vincula requisitos, modelado BPMN, simulación y entrega.</a:t>
            </a:r>
          </a:p>
          <a:p>
            <a:endParaRPr sz="20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Los recursos relacionan cada actividad con el personal o las herramientas necesarias.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B566C0-0721-45A0-813B-0E00B5DA23D2}"/>
              </a:ext>
            </a:extLst>
          </p:cNvPr>
          <p:cNvSpPr>
            <a:spLocks noGrp="1"/>
          </p:cNvSpPr>
          <p:nvPr/>
        </p:nvSpPr>
        <p:spPr>
          <a:xfrm>
            <a:off x="6953250" y="2095500"/>
            <a:ext cx="5311022" cy="314325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B8C8BD"/>
            </a:solidFill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86B64"/>
                </a:solidFill>
                <a:latin typeface="Aptos"/>
                <a:ea typeface="Aptos"/>
                <a:cs typeface="Aptos"/>
              </a:defRPr>
            </a:pPr>
            <a:endParaRPr sz="1725" b="0" dirty="0">
              <a:solidFill>
                <a:srgbClr val="586B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294A9F-9A41-480A-8027-AAC230C4DCD5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A84932"/>
                </a:solidFill>
                <a:latin typeface="Aptos"/>
                <a:ea typeface="Aptos"/>
                <a:cs typeface="Aptos"/>
              </a:rPr>
              <a:t>Ejercicio: aumenta la duración de una tarea y registra qué actividades cambian de fecha.</a:t>
            </a:r>
          </a:p>
        </p:txBody>
      </p:sp>
    </p:spTree>
    <p:extLst>
      <p:ext uri="{BB962C8B-B14F-4D97-AF65-F5344CB8AC3E}">
        <p14:creationId xmlns:p14="http://schemas.microsoft.com/office/powerpoint/2010/main" val="187000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241CC11-3DDD-41A9-A5F9-4C126BA57673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Jira: requisitos y prioridades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D15283A-C4A5-4071-85D4-8B11F00C5F8B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467099-F812-4785-9C23-D4F815DF8532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628650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El backlog reúne el trabajo pendiente. Cada historia expresa una necesidad, su prioridad y una estimación.</a:t>
            </a:r>
          </a:p>
          <a:p>
            <a:endParaRPr sz="20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El caso de referencia utiliza diez historias por proyecto. En Corona se cubre el proceso operativo. En Banco Bansiso se representa la atención.</a:t>
            </a:r>
          </a:p>
          <a:p>
            <a:endParaRPr sz="2025" b="0">
              <a:solidFill>
                <a:srgbClr val="243D39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Multired incluye validación de tarjeta y PIN, autorización, fondos, manejo de errores y conciliación.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73A81A-35B1-44D7-BB65-67365948EC0C}"/>
              </a:ext>
            </a:extLst>
          </p:cNvPr>
          <p:cNvSpPr>
            <a:spLocks noGrp="1"/>
          </p:cNvSpPr>
          <p:nvPr/>
        </p:nvSpPr>
        <p:spPr>
          <a:xfrm>
            <a:off x="7524750" y="2057400"/>
            <a:ext cx="4000500" cy="314325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B8C8BD"/>
            </a:solidFill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86B64"/>
                </a:solidFill>
                <a:latin typeface="Aptos"/>
                <a:ea typeface="Aptos"/>
                <a:cs typeface="Aptos"/>
              </a:defRPr>
            </a:pPr>
            <a:endParaRPr sz="1725" b="0" dirty="0">
              <a:solidFill>
                <a:srgbClr val="586B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761A53-F3D7-411F-863F-FB3F2812E413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Ejercicio: revisa una historia y define una condición que permita comprobar su cumplimiento.</a:t>
            </a:r>
          </a:p>
        </p:txBody>
      </p:sp>
    </p:spTree>
    <p:extLst>
      <p:ext uri="{BB962C8B-B14F-4D97-AF65-F5344CB8AC3E}">
        <p14:creationId xmlns:p14="http://schemas.microsoft.com/office/powerpoint/2010/main" val="23849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CAA434F-9D01-4279-8EA7-97EF9D7E11B2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Trello: estado de las actividades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5B5FE47-191F-498F-B1D8-5EE846082F06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666750" y="1943100"/>
          <a:ext cx="6191250" cy="294894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Lista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Significado en el flujo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Por hacer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Actividad pendiente de comenzar.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En proceso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Trabajo que el equipo está realizando.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En revisión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Actividad terminada que requiere validación.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Terminado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Trabajo revisado y concluido.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FEEF49F-5C03-4369-B224-292308C1283C}"/>
              </a:ext>
            </a:extLst>
          </p:cNvPr>
          <p:cNvSpPr>
            <a:spLocks noGrp="1"/>
          </p:cNvSpPr>
          <p:nvPr/>
        </p:nvSpPr>
        <p:spPr>
          <a:xfrm>
            <a:off x="666750" y="5105400"/>
            <a:ext cx="10382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3D3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3D39"/>
                </a:solidFill>
                <a:latin typeface="Aptos"/>
                <a:ea typeface="Aptos"/>
                <a:cs typeface="Aptos"/>
              </a:rPr>
              <a:t>El ejemplo de Multired y Banco Bansiso contempla diez tarjetas por proyecto. Cada tarjeta permite registrar la actividad, el responsable y su fecha.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29DEFE-6A4C-4BAB-ADB2-1D3643324EEF}"/>
              </a:ext>
            </a:extLst>
          </p:cNvPr>
          <p:cNvSpPr>
            <a:spLocks noGrp="1"/>
          </p:cNvSpPr>
          <p:nvPr/>
        </p:nvSpPr>
        <p:spPr>
          <a:xfrm>
            <a:off x="666750" y="59721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Ejercicio: actualiza una tarjeta y explica qué evidencia justifica su nuevo estado.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0B8FD1-7ABC-4899-A8AB-BC0EE0ED6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65668"/>
            <a:ext cx="5069128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474C7AA-7FB2-49DC-8321-B08015F8E38E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Aplicación de las herramientas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C1E39A-14B1-4E31-AA2D-3FD9EF822FC1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49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8493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66750" y="1952625"/>
          <a:ext cx="10763250" cy="304800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Caso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ProjectLibre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Jira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2E9"/>
                          </a:solidFill>
                          <a:latin typeface="Aptos"/>
                          <a:ea typeface="Aptos"/>
                          <a:cs typeface="Aptos"/>
                        </a:rPr>
                        <a:t>Trello</a:t>
                      </a:r>
                    </a:p>
                  </a:txBody>
                  <a:tcPr>
                    <a:solidFill>
                      <a:srgbClr val="153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Tareas enlazadas y cronograma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10 historias para organizar el trabajo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Sin evidencia en el material base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Cronograma y asignación de recursos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10 historias del proceso interbancario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10 tarjetas de seguimiento</a:t>
                      </a:r>
                    </a:p>
                  </a:txBody>
                  <a:tcPr>
                    <a:solidFill>
                      <a:srgbClr val="EE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Secuencia de actividades y fechas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10 historias sobre atención y simulación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D39"/>
                          </a:solidFill>
                          <a:latin typeface="Aptos"/>
                          <a:ea typeface="Aptos"/>
                          <a:cs typeface="Aptos"/>
                        </a:rPr>
                        <a:t>10 tarjetas de seguimiento</a:t>
                      </a:r>
                    </a:p>
                  </a:txBody>
                  <a:tcPr>
                    <a:solidFill>
                      <a:srgbClr val="E1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72AC5DB7-648B-4DD1-BA30-EC2343D22E69}"/>
              </a:ext>
            </a:extLst>
          </p:cNvPr>
          <p:cNvSpPr>
            <a:spLocks noGrp="1"/>
          </p:cNvSpPr>
          <p:nvPr/>
        </p:nvSpPr>
        <p:spPr>
          <a:xfrm>
            <a:off x="666750" y="536257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53E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53E3A"/>
                </a:solidFill>
                <a:latin typeface="Aptos"/>
                <a:ea typeface="Aptos"/>
                <a:cs typeface="Aptos"/>
              </a:rPr>
              <a:t>Cada herramienta muestra una parte del proyecto: el calendario, los requisitos o el estado de las tareas.</a:t>
            </a:r>
          </a:p>
        </p:txBody>
      </p:sp>
    </p:spTree>
    <p:extLst>
      <p:ext uri="{BB962C8B-B14F-4D97-AF65-F5344CB8AC3E}">
        <p14:creationId xmlns:p14="http://schemas.microsoft.com/office/powerpoint/2010/main" val="1586790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59CB937-079F-4248-AADE-3BA62328B40A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6F2E9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2E9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26D6C23-7A3F-4114-AD77-5EBB96432AD1}"/>
              </a:ext>
            </a:extLst>
          </p:cNvPr>
          <p:cNvSpPr>
            <a:spLocks noGrp="1"/>
          </p:cNvSpPr>
          <p:nvPr/>
        </p:nvSpPr>
        <p:spPr>
          <a:xfrm>
            <a:off x="11191875" y="618172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E7A88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7A88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AEF6F2-11A3-4C97-A84D-F85277740849}"/>
              </a:ext>
            </a:extLst>
          </p:cNvPr>
          <p:cNvSpPr>
            <a:spLocks noGrp="1"/>
          </p:cNvSpPr>
          <p:nvPr/>
        </p:nvSpPr>
        <p:spPr>
          <a:xfrm>
            <a:off x="581908" y="1443578"/>
            <a:ext cx="102870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6F2E9"/>
                </a:solidFill>
                <a:latin typeface="Aptos"/>
                <a:ea typeface="Aptos"/>
                <a:cs typeface="Aptos"/>
              </a:defRPr>
            </a:pPr>
            <a:r>
              <a:rPr sz="2175" b="0" dirty="0">
                <a:solidFill>
                  <a:srgbClr val="F6F2E9"/>
                </a:solidFill>
                <a:latin typeface="Aptos"/>
                <a:ea typeface="Aptos"/>
                <a:cs typeface="Aptos"/>
              </a:rPr>
              <a:t>ProjectLibre ayuda a revisar el orden de las actividades y las consecuencias de cambiar su duración.</a:t>
            </a:r>
          </a:p>
          <a:p>
            <a:endParaRPr sz="2175" b="0" dirty="0">
              <a:solidFill>
                <a:srgbClr val="F6F2E9"/>
              </a:solidFill>
              <a:latin typeface="Aptos"/>
              <a:ea typeface="Aptos"/>
              <a:cs typeface="Aptos"/>
            </a:endParaRPr>
          </a:p>
          <a:p>
            <a:pPr>
              <a:defRPr sz="2175" b="0">
                <a:solidFill>
                  <a:srgbClr val="F6F2E9"/>
                </a:solidFill>
                <a:latin typeface="Aptos"/>
                <a:ea typeface="Aptos"/>
                <a:cs typeface="Aptos"/>
              </a:defRPr>
            </a:pPr>
            <a:r>
              <a:rPr sz="2175" b="0" dirty="0">
                <a:solidFill>
                  <a:srgbClr val="F6F2E9"/>
                </a:solidFill>
                <a:latin typeface="Aptos"/>
                <a:ea typeface="Aptos"/>
                <a:cs typeface="Aptos"/>
              </a:rPr>
              <a:t>Jira convierte los requisitos en trabajo que puede priorizarse y verificarse. Trello ofrece una vista directa del avance.</a:t>
            </a:r>
          </a:p>
          <a:p>
            <a:endParaRPr sz="2175" b="0" dirty="0">
              <a:solidFill>
                <a:srgbClr val="F6F2E9"/>
              </a:solidFill>
              <a:latin typeface="Aptos"/>
              <a:ea typeface="Aptos"/>
              <a:cs typeface="Aptos"/>
            </a:endParaRPr>
          </a:p>
          <a:p>
            <a:pPr>
              <a:defRPr sz="2175" b="0">
                <a:solidFill>
                  <a:srgbClr val="F6F2E9"/>
                </a:solidFill>
                <a:latin typeface="Aptos"/>
                <a:ea typeface="Aptos"/>
                <a:cs typeface="Aptos"/>
              </a:defRPr>
            </a:pPr>
            <a:r>
              <a:rPr sz="2175" b="0" dirty="0">
                <a:solidFill>
                  <a:srgbClr val="F6F2E9"/>
                </a:solidFill>
                <a:latin typeface="Aptos"/>
                <a:ea typeface="Aptos"/>
                <a:cs typeface="Aptos"/>
              </a:rPr>
              <a:t>La práctica resulta útil cuando el cronograma, el backlog y el tablero reflejan el mismo proyecto y se actualizan con evidencias.</a:t>
            </a:r>
          </a:p>
          <a:p>
            <a:endParaRPr sz="2175" b="0" dirty="0">
              <a:solidFill>
                <a:srgbClr val="F6F2E9"/>
              </a:solidFill>
              <a:latin typeface="Aptos"/>
              <a:ea typeface="Aptos"/>
              <a:cs typeface="Aptos"/>
            </a:endParaRPr>
          </a:p>
          <a:p>
            <a:pPr>
              <a:defRPr sz="2175" b="0">
                <a:solidFill>
                  <a:srgbClr val="F6F2E9"/>
                </a:solidFill>
                <a:latin typeface="Aptos"/>
                <a:ea typeface="Aptos"/>
                <a:cs typeface="Aptos"/>
              </a:defRPr>
            </a:pPr>
            <a:r>
              <a:rPr sz="2175" b="0" dirty="0">
                <a:solidFill>
                  <a:srgbClr val="F6F2E9"/>
                </a:solidFill>
                <a:latin typeface="Aptos"/>
                <a:ea typeface="Aptos"/>
                <a:cs typeface="Aptos"/>
              </a:rPr>
              <a:t>El registro de cambios permite explicar las decisiones y mantener la planificación coherente con el trabajo realizado.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BA4B925-F1F6-4E78-9CA4-F2C5A10C1BDD}"/>
              </a:ext>
            </a:extLst>
          </p:cNvPr>
          <p:cNvSpPr>
            <a:spLocks noGrp="1"/>
          </p:cNvSpPr>
          <p:nvPr/>
        </p:nvSpPr>
        <p:spPr>
          <a:xfrm>
            <a:off x="581908" y="5158328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E7A88C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E7A88C"/>
                </a:solidFill>
                <a:latin typeface="Aptos"/>
                <a:ea typeface="Aptos"/>
                <a:cs typeface="Aptos"/>
              </a:rPr>
              <a:t>La información actualizada permite dar seguimiento al proyecto.</a:t>
            </a:r>
            <a:endParaRPr lang="es-MX" sz="1875" b="1" dirty="0">
              <a:solidFill>
                <a:srgbClr val="E7A88C"/>
              </a:solidFill>
              <a:latin typeface="Aptos"/>
              <a:ea typeface="Aptos"/>
              <a:cs typeface="Aptos"/>
            </a:endParaRPr>
          </a:p>
          <a:p>
            <a:r>
              <a:rPr lang="es-MX" dirty="0"/>
              <a:t>Fuentes de Informacion</a:t>
            </a:r>
          </a:p>
          <a:p>
            <a:pPr lvl="0"/>
            <a:r>
              <a:rPr lang="es-MX" u="sng" dirty="0">
                <a:hlinkClick r:id="rId3"/>
              </a:rPr>
              <a:t>https://asem.mx/blog_asem/herramientas-tecnologicas-para-emprendedores/</a:t>
            </a:r>
            <a:endParaRPr lang="es-MX" dirty="0"/>
          </a:p>
          <a:p>
            <a:pPr lvl="0"/>
            <a:r>
              <a:rPr lang="es-MX" u="sng" dirty="0">
                <a:hlinkClick r:id="rId4"/>
              </a:rPr>
              <a:t>https://www.zendesk.com.mx/blog/apps-and-integrations/herramientas-tecnologicas-gestion-comercial-clientes/</a:t>
            </a:r>
            <a:endParaRPr lang="es-MX" dirty="0"/>
          </a:p>
          <a:p>
            <a:pPr lvl="0"/>
            <a:r>
              <a:rPr lang="es-MX" u="sng" dirty="0">
                <a:hlinkClick r:id="rId5"/>
              </a:rPr>
              <a:t>https://expertiaconsultora.com/blog/2025/08/14/herramientas-tecnologicas-procesos-administrativos/</a:t>
            </a:r>
            <a:endParaRPr lang="es-MX" dirty="0"/>
          </a:p>
          <a:p>
            <a:pPr>
              <a:defRPr sz="1875" b="1">
                <a:solidFill>
                  <a:srgbClr val="E7A88C"/>
                </a:solidFill>
                <a:latin typeface="Aptos"/>
                <a:ea typeface="Aptos"/>
                <a:cs typeface="Aptos"/>
              </a:defRPr>
            </a:pPr>
            <a:endParaRPr sz="1875" b="1" dirty="0">
              <a:solidFill>
                <a:srgbClr val="E7A88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206821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748</Words>
  <Application>Microsoft Office PowerPoint</Application>
  <DocSecurity>0</DocSecurity>
  <PresentationFormat>Panorámica</PresentationFormat>
  <Paragraphs>109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Noto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Silias</cp:lastModifiedBy>
  <cp:revision>6</cp:revision>
  <dcterms:created xsi:type="dcterms:W3CDTF">2026-10-02T19:05:55Z</dcterms:created>
  <dcterms:modified xsi:type="dcterms:W3CDTF">2026-10-02T22:40:24Z</dcterms:modified>
</cp:coreProperties>
</file>